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26"/>
  </p:notesMasterIdLst>
  <p:sldIdLst>
    <p:sldId id="256" r:id="rId2"/>
    <p:sldId id="257" r:id="rId3"/>
    <p:sldId id="2147472401" r:id="rId4"/>
    <p:sldId id="2147472411" r:id="rId5"/>
    <p:sldId id="1295" r:id="rId6"/>
    <p:sldId id="1292" r:id="rId7"/>
    <p:sldId id="2147472380" r:id="rId8"/>
    <p:sldId id="2147472374" r:id="rId9"/>
    <p:sldId id="2147472402" r:id="rId10"/>
    <p:sldId id="2147472329" r:id="rId11"/>
    <p:sldId id="2147472403" r:id="rId12"/>
    <p:sldId id="2147472330" r:id="rId13"/>
    <p:sldId id="2147472404" r:id="rId14"/>
    <p:sldId id="2147472332" r:id="rId15"/>
    <p:sldId id="2147472405" r:id="rId16"/>
    <p:sldId id="2147472406" r:id="rId17"/>
    <p:sldId id="2147472407" r:id="rId18"/>
    <p:sldId id="2147472408" r:id="rId19"/>
    <p:sldId id="2147472409" r:id="rId20"/>
    <p:sldId id="2147472410" r:id="rId21"/>
    <p:sldId id="2147472412" r:id="rId22"/>
    <p:sldId id="2147472413" r:id="rId23"/>
    <p:sldId id="2147472414" r:id="rId24"/>
    <p:sldId id="357" r:id="rId25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162B"/>
    <a:srgbClr val="000000"/>
    <a:srgbClr val="98D9D5"/>
    <a:srgbClr val="E67E22"/>
    <a:srgbClr val="28B1A7"/>
    <a:srgbClr val="19447A"/>
    <a:srgbClr val="409FA6"/>
    <a:srgbClr val="FFFFFF"/>
    <a:srgbClr val="176B86"/>
    <a:srgbClr val="1954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66" autoAdjust="0"/>
    <p:restoredTop sz="92758" autoAdjust="0"/>
  </p:normalViewPr>
  <p:slideViewPr>
    <p:cSldViewPr>
      <p:cViewPr varScale="1">
        <p:scale>
          <a:sx n="55" d="100"/>
          <a:sy n="55" d="100"/>
        </p:scale>
        <p:origin x="531" y="3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387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4A9DF2-70EC-4B96-A053-2561A61F337D}" type="datetimeFigureOut">
              <a:rPr lang="en-US" smtClean="0"/>
              <a:t>5/14/2026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588163-CFC1-4ACA-9600-FB08ECAA64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273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588163-CFC1-4ACA-9600-FB08ECAA64C8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1267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D5D06DE6-9792-C027-9577-AFD1237BD9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88860" y="3866701"/>
            <a:ext cx="8091397" cy="17154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44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4600" b="1"/>
            </a:lvl2pPr>
            <a:lvl3pPr marL="914400" indent="0">
              <a:buFontTx/>
              <a:buNone/>
              <a:defRPr sz="4600" b="1"/>
            </a:lvl3pPr>
            <a:lvl4pPr marL="1371600" indent="0">
              <a:buFontTx/>
              <a:buNone/>
              <a:defRPr sz="4600" b="1"/>
            </a:lvl4pPr>
            <a:lvl5pPr marL="1828800" indent="0">
              <a:buFontTx/>
              <a:buNone/>
              <a:defRPr sz="4600" b="1"/>
            </a:lvl5pPr>
          </a:lstStyle>
          <a:p>
            <a:pPr lvl="0"/>
            <a:r>
              <a:rPr lang="en-US" dirty="0"/>
              <a:t>Presentation Title </a:t>
            </a:r>
          </a:p>
        </p:txBody>
      </p:sp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618FCF8D-01B5-E382-DA13-DA3C3EE912C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88860" y="6057900"/>
            <a:ext cx="8091397" cy="43860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4600" b="1"/>
            </a:lvl2pPr>
            <a:lvl3pPr marL="914400" indent="0">
              <a:buFontTx/>
              <a:buNone/>
              <a:defRPr sz="4600" b="1"/>
            </a:lvl3pPr>
            <a:lvl4pPr marL="1371600" indent="0">
              <a:buFontTx/>
              <a:buNone/>
              <a:defRPr sz="4600" b="1"/>
            </a:lvl4pPr>
            <a:lvl5pPr marL="1828800" indent="0">
              <a:buFontTx/>
              <a:buNone/>
              <a:defRPr sz="4600" b="1"/>
            </a:lvl5pPr>
          </a:lstStyle>
          <a:p>
            <a:pPr lvl="0"/>
            <a:r>
              <a:rPr lang="en-US" dirty="0"/>
              <a:t>Date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6B335A7-6109-B26B-B9B4-4A350117C7B4}"/>
              </a:ext>
            </a:extLst>
          </p:cNvPr>
          <p:cNvGrpSpPr/>
          <p:nvPr userDrawn="1"/>
        </p:nvGrpSpPr>
        <p:grpSpPr>
          <a:xfrm>
            <a:off x="1" y="0"/>
            <a:ext cx="701674" cy="10287000"/>
            <a:chOff x="1" y="0"/>
            <a:chExt cx="974394" cy="10287000"/>
          </a:xfrm>
        </p:grpSpPr>
        <p:sp>
          <p:nvSpPr>
            <p:cNvPr id="41" name="Freeform 4">
              <a:extLst>
                <a:ext uri="{FF2B5EF4-FFF2-40B4-BE49-F238E27FC236}">
                  <a16:creationId xmlns:a16="http://schemas.microsoft.com/office/drawing/2014/main" id="{2ED1CD4F-7C54-9762-2DC4-C4F5F3FA91CE}"/>
                </a:ext>
              </a:extLst>
            </p:cNvPr>
            <p:cNvSpPr/>
            <p:nvPr userDrawn="1"/>
          </p:nvSpPr>
          <p:spPr>
            <a:xfrm>
              <a:off x="649597" y="0"/>
              <a:ext cx="324798" cy="10287000"/>
            </a:xfrm>
            <a:custGeom>
              <a:avLst/>
              <a:gdLst/>
              <a:ahLst/>
              <a:cxnLst/>
              <a:rect l="l" t="t" r="r" b="b"/>
              <a:pathLst>
                <a:path w="1384190" h="3472226">
                  <a:moveTo>
                    <a:pt x="0" y="0"/>
                  </a:moveTo>
                  <a:lnTo>
                    <a:pt x="1384190" y="0"/>
                  </a:lnTo>
                  <a:lnTo>
                    <a:pt x="1384190" y="3472226"/>
                  </a:lnTo>
                  <a:lnTo>
                    <a:pt x="0" y="347222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248D07B7-AD58-DF23-DDAD-324509531AD6}"/>
                </a:ext>
              </a:extLst>
            </p:cNvPr>
            <p:cNvSpPr/>
            <p:nvPr/>
          </p:nvSpPr>
          <p:spPr>
            <a:xfrm>
              <a:off x="1" y="0"/>
              <a:ext cx="324798" cy="10287000"/>
            </a:xfrm>
            <a:custGeom>
              <a:avLst/>
              <a:gdLst/>
              <a:ahLst/>
              <a:cxnLst/>
              <a:rect l="l" t="t" r="r" b="b"/>
              <a:pathLst>
                <a:path w="1384190" h="3472226">
                  <a:moveTo>
                    <a:pt x="0" y="0"/>
                  </a:moveTo>
                  <a:lnTo>
                    <a:pt x="1384190" y="0"/>
                  </a:lnTo>
                  <a:lnTo>
                    <a:pt x="1384190" y="3472226"/>
                  </a:lnTo>
                  <a:lnTo>
                    <a:pt x="0" y="34722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" name="Freeform 4">
              <a:extLst>
                <a:ext uri="{FF2B5EF4-FFF2-40B4-BE49-F238E27FC236}">
                  <a16:creationId xmlns:a16="http://schemas.microsoft.com/office/drawing/2014/main" id="{1A1AEC32-8D76-B228-34DA-4B63537F4B0E}"/>
                </a:ext>
              </a:extLst>
            </p:cNvPr>
            <p:cNvSpPr/>
            <p:nvPr userDrawn="1"/>
          </p:nvSpPr>
          <p:spPr>
            <a:xfrm>
              <a:off x="324799" y="0"/>
              <a:ext cx="324798" cy="10287000"/>
            </a:xfrm>
            <a:custGeom>
              <a:avLst/>
              <a:gdLst/>
              <a:ahLst/>
              <a:cxnLst/>
              <a:rect l="l" t="t" r="r" b="b"/>
              <a:pathLst>
                <a:path w="1384190" h="3472226">
                  <a:moveTo>
                    <a:pt x="0" y="0"/>
                  </a:moveTo>
                  <a:lnTo>
                    <a:pt x="1384190" y="0"/>
                  </a:lnTo>
                  <a:lnTo>
                    <a:pt x="1384190" y="3472226"/>
                  </a:lnTo>
                  <a:lnTo>
                    <a:pt x="0" y="34722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3291871F-0CB1-875A-9049-68A6FF376A9F}"/>
              </a:ext>
            </a:extLst>
          </p:cNvPr>
          <p:cNvSpPr/>
          <p:nvPr userDrawn="1"/>
        </p:nvSpPr>
        <p:spPr>
          <a:xfrm rot="16200000">
            <a:off x="13724272" y="4965082"/>
            <a:ext cx="8770621" cy="35683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219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D5D06DE6-9792-C027-9577-AFD1237BD9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88860" y="3866701"/>
            <a:ext cx="8091397" cy="17154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44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4600" b="1"/>
            </a:lvl2pPr>
            <a:lvl3pPr marL="914400" indent="0">
              <a:buFontTx/>
              <a:buNone/>
              <a:defRPr sz="4600" b="1"/>
            </a:lvl3pPr>
            <a:lvl4pPr marL="1371600" indent="0">
              <a:buFontTx/>
              <a:buNone/>
              <a:defRPr sz="4600" b="1"/>
            </a:lvl4pPr>
            <a:lvl5pPr marL="1828800" indent="0">
              <a:buFontTx/>
              <a:buNone/>
              <a:defRPr sz="4600" b="1"/>
            </a:lvl5pPr>
          </a:lstStyle>
          <a:p>
            <a:pPr lvl="0"/>
            <a:r>
              <a:rPr lang="en-US" dirty="0"/>
              <a:t>Presentation Title </a:t>
            </a:r>
          </a:p>
        </p:txBody>
      </p:sp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618FCF8D-01B5-E382-DA13-DA3C3EE912C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88860" y="6057900"/>
            <a:ext cx="8091397" cy="43860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4600" b="1"/>
            </a:lvl2pPr>
            <a:lvl3pPr marL="914400" indent="0">
              <a:buFontTx/>
              <a:buNone/>
              <a:defRPr sz="4600" b="1"/>
            </a:lvl3pPr>
            <a:lvl4pPr marL="1371600" indent="0">
              <a:buFontTx/>
              <a:buNone/>
              <a:defRPr sz="4600" b="1"/>
            </a:lvl4pPr>
            <a:lvl5pPr marL="1828800" indent="0">
              <a:buFontTx/>
              <a:buNone/>
              <a:defRPr sz="4600" b="1"/>
            </a:lvl5pPr>
          </a:lstStyle>
          <a:p>
            <a:pPr lvl="0"/>
            <a:r>
              <a:rPr lang="en-US" dirty="0"/>
              <a:t>Date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6B335A7-6109-B26B-B9B4-4A350117C7B4}"/>
              </a:ext>
            </a:extLst>
          </p:cNvPr>
          <p:cNvGrpSpPr/>
          <p:nvPr userDrawn="1"/>
        </p:nvGrpSpPr>
        <p:grpSpPr>
          <a:xfrm>
            <a:off x="1" y="0"/>
            <a:ext cx="701674" cy="10287000"/>
            <a:chOff x="1" y="0"/>
            <a:chExt cx="974394" cy="10287000"/>
          </a:xfrm>
        </p:grpSpPr>
        <p:sp>
          <p:nvSpPr>
            <p:cNvPr id="41" name="Freeform 4">
              <a:extLst>
                <a:ext uri="{FF2B5EF4-FFF2-40B4-BE49-F238E27FC236}">
                  <a16:creationId xmlns:a16="http://schemas.microsoft.com/office/drawing/2014/main" id="{2ED1CD4F-7C54-9762-2DC4-C4F5F3FA91CE}"/>
                </a:ext>
              </a:extLst>
            </p:cNvPr>
            <p:cNvSpPr/>
            <p:nvPr userDrawn="1"/>
          </p:nvSpPr>
          <p:spPr>
            <a:xfrm>
              <a:off x="649597" y="0"/>
              <a:ext cx="324798" cy="10287000"/>
            </a:xfrm>
            <a:custGeom>
              <a:avLst/>
              <a:gdLst/>
              <a:ahLst/>
              <a:cxnLst/>
              <a:rect l="l" t="t" r="r" b="b"/>
              <a:pathLst>
                <a:path w="1384190" h="3472226">
                  <a:moveTo>
                    <a:pt x="0" y="0"/>
                  </a:moveTo>
                  <a:lnTo>
                    <a:pt x="1384190" y="0"/>
                  </a:lnTo>
                  <a:lnTo>
                    <a:pt x="1384190" y="3472226"/>
                  </a:lnTo>
                  <a:lnTo>
                    <a:pt x="0" y="347222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248D07B7-AD58-DF23-DDAD-324509531AD6}"/>
                </a:ext>
              </a:extLst>
            </p:cNvPr>
            <p:cNvSpPr/>
            <p:nvPr/>
          </p:nvSpPr>
          <p:spPr>
            <a:xfrm>
              <a:off x="1" y="0"/>
              <a:ext cx="324798" cy="10287000"/>
            </a:xfrm>
            <a:custGeom>
              <a:avLst/>
              <a:gdLst/>
              <a:ahLst/>
              <a:cxnLst/>
              <a:rect l="l" t="t" r="r" b="b"/>
              <a:pathLst>
                <a:path w="1384190" h="3472226">
                  <a:moveTo>
                    <a:pt x="0" y="0"/>
                  </a:moveTo>
                  <a:lnTo>
                    <a:pt x="1384190" y="0"/>
                  </a:lnTo>
                  <a:lnTo>
                    <a:pt x="1384190" y="3472226"/>
                  </a:lnTo>
                  <a:lnTo>
                    <a:pt x="0" y="34722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" name="Freeform 4">
              <a:extLst>
                <a:ext uri="{FF2B5EF4-FFF2-40B4-BE49-F238E27FC236}">
                  <a16:creationId xmlns:a16="http://schemas.microsoft.com/office/drawing/2014/main" id="{1A1AEC32-8D76-B228-34DA-4B63537F4B0E}"/>
                </a:ext>
              </a:extLst>
            </p:cNvPr>
            <p:cNvSpPr/>
            <p:nvPr userDrawn="1"/>
          </p:nvSpPr>
          <p:spPr>
            <a:xfrm>
              <a:off x="324799" y="0"/>
              <a:ext cx="324798" cy="10287000"/>
            </a:xfrm>
            <a:custGeom>
              <a:avLst/>
              <a:gdLst/>
              <a:ahLst/>
              <a:cxnLst/>
              <a:rect l="l" t="t" r="r" b="b"/>
              <a:pathLst>
                <a:path w="1384190" h="3472226">
                  <a:moveTo>
                    <a:pt x="0" y="0"/>
                  </a:moveTo>
                  <a:lnTo>
                    <a:pt x="1384190" y="0"/>
                  </a:lnTo>
                  <a:lnTo>
                    <a:pt x="1384190" y="3472226"/>
                  </a:lnTo>
                  <a:lnTo>
                    <a:pt x="0" y="34722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FB0A42F-E6A3-CB96-9852-85C86F511AD6}"/>
              </a:ext>
            </a:extLst>
          </p:cNvPr>
          <p:cNvGrpSpPr/>
          <p:nvPr userDrawn="1"/>
        </p:nvGrpSpPr>
        <p:grpSpPr>
          <a:xfrm>
            <a:off x="11692218" y="0"/>
            <a:ext cx="6595782" cy="10287000"/>
            <a:chOff x="7794812" y="0"/>
            <a:chExt cx="4397188" cy="6858000"/>
          </a:xfrm>
        </p:grpSpPr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04244303-0891-69A8-2D9D-161F4AE9C4AF}"/>
                </a:ext>
              </a:extLst>
            </p:cNvPr>
            <p:cNvSpPr/>
            <p:nvPr/>
          </p:nvSpPr>
          <p:spPr>
            <a:xfrm flipH="1">
              <a:off x="7794812" y="1371600"/>
              <a:ext cx="4397188" cy="5486400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EAA11CFF-61B1-248D-7099-2F8686DECDAB}"/>
                </a:ext>
              </a:extLst>
            </p:cNvPr>
            <p:cNvSpPr/>
            <p:nvPr/>
          </p:nvSpPr>
          <p:spPr>
            <a:xfrm flipH="1">
              <a:off x="11261904" y="1371600"/>
              <a:ext cx="930096" cy="2407024"/>
            </a:xfrm>
            <a:custGeom>
              <a:avLst/>
              <a:gdLst>
                <a:gd name="connsiteX0" fmla="*/ 0 w 930096"/>
                <a:gd name="connsiteY0" fmla="*/ 0 h 2407024"/>
                <a:gd name="connsiteX1" fmla="*/ 0 w 930096"/>
                <a:gd name="connsiteY1" fmla="*/ 2407024 h 2407024"/>
                <a:gd name="connsiteX2" fmla="*/ 930096 w 930096"/>
                <a:gd name="connsiteY2" fmla="*/ 1160488 h 2407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30096" h="2407024">
                  <a:moveTo>
                    <a:pt x="0" y="0"/>
                  </a:moveTo>
                  <a:lnTo>
                    <a:pt x="0" y="2407024"/>
                  </a:lnTo>
                  <a:lnTo>
                    <a:pt x="930096" y="116048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/>
            </a:p>
          </p:txBody>
        </p:sp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606BB107-8387-8780-6BFC-A3410E9BB552}"/>
                </a:ext>
              </a:extLst>
            </p:cNvPr>
            <p:cNvSpPr/>
            <p:nvPr/>
          </p:nvSpPr>
          <p:spPr>
            <a:xfrm rot="10800000">
              <a:off x="9838765" y="0"/>
              <a:ext cx="2353235" cy="3778624"/>
            </a:xfrm>
            <a:prstGeom prst="triangle">
              <a:avLst>
                <a:gd name="adj" fmla="val 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/>
            </a:p>
          </p:txBody>
        </p:sp>
      </p:grpSp>
    </p:spTree>
    <p:extLst>
      <p:ext uri="{BB962C8B-B14F-4D97-AF65-F5344CB8AC3E}">
        <p14:creationId xmlns:p14="http://schemas.microsoft.com/office/powerpoint/2010/main" val="783334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vider layout Withou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F27702F9-14C8-B23F-35B6-E1E78860A24D}"/>
              </a:ext>
            </a:extLst>
          </p:cNvPr>
          <p:cNvGrpSpPr/>
          <p:nvPr userDrawn="1"/>
        </p:nvGrpSpPr>
        <p:grpSpPr>
          <a:xfrm>
            <a:off x="2" y="0"/>
            <a:ext cx="7120860" cy="10287000"/>
            <a:chOff x="2" y="0"/>
            <a:chExt cx="7120860" cy="10287000"/>
          </a:xfrm>
        </p:grpSpPr>
        <p:sp>
          <p:nvSpPr>
            <p:cNvPr id="31" name="Freeform 9">
              <a:extLst>
                <a:ext uri="{FF2B5EF4-FFF2-40B4-BE49-F238E27FC236}">
                  <a16:creationId xmlns:a16="http://schemas.microsoft.com/office/drawing/2014/main" id="{8CB19401-B083-1E79-EABB-D8B106CA2A34}"/>
                </a:ext>
              </a:extLst>
            </p:cNvPr>
            <p:cNvSpPr/>
            <p:nvPr userDrawn="1"/>
          </p:nvSpPr>
          <p:spPr>
            <a:xfrm rot="10800000" flipH="1">
              <a:off x="504251" y="419100"/>
              <a:ext cx="3906489" cy="7817834"/>
            </a:xfrm>
            <a:custGeom>
              <a:avLst/>
              <a:gdLst>
                <a:gd name="connsiteX0" fmla="*/ 0 w 930096"/>
                <a:gd name="connsiteY0" fmla="*/ 0 h 2407024"/>
                <a:gd name="connsiteX1" fmla="*/ 0 w 930096"/>
                <a:gd name="connsiteY1" fmla="*/ 2407024 h 2407024"/>
                <a:gd name="connsiteX2" fmla="*/ 930096 w 930096"/>
                <a:gd name="connsiteY2" fmla="*/ 1160488 h 2407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30096" h="2407024">
                  <a:moveTo>
                    <a:pt x="0" y="0"/>
                  </a:moveTo>
                  <a:lnTo>
                    <a:pt x="0" y="2407024"/>
                  </a:lnTo>
                  <a:lnTo>
                    <a:pt x="930096" y="116048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2700" dirty="0"/>
            </a:p>
          </p:txBody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993233BA-6AE9-AAB2-C650-6A048F11976A}"/>
                </a:ext>
              </a:extLst>
            </p:cNvPr>
            <p:cNvSpPr/>
            <p:nvPr/>
          </p:nvSpPr>
          <p:spPr>
            <a:xfrm rot="10800000" flipH="1">
              <a:off x="2" y="0"/>
              <a:ext cx="7120860" cy="9037582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954E67E5-7524-7C99-9E8B-6F468D17AE8C}"/>
                </a:ext>
              </a:extLst>
            </p:cNvPr>
            <p:cNvSpPr/>
            <p:nvPr/>
          </p:nvSpPr>
          <p:spPr>
            <a:xfrm>
              <a:off x="4" y="6844975"/>
              <a:ext cx="3810858" cy="3442025"/>
            </a:xfrm>
            <a:prstGeom prst="triangle">
              <a:avLst>
                <a:gd name="adj" fmla="val 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2700" dirty="0"/>
            </a:p>
          </p:txBody>
        </p:sp>
      </p:grp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CFFF85E-5C4A-67F7-A055-0494CD5AE07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49962" y="4038600"/>
            <a:ext cx="9952038" cy="24765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44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5000"/>
            </a:lvl2pPr>
            <a:lvl3pPr marL="914400" indent="0">
              <a:buFontTx/>
              <a:buNone/>
              <a:defRPr sz="5000"/>
            </a:lvl3pPr>
            <a:lvl4pPr marL="1371600" indent="0">
              <a:buFontTx/>
              <a:buNone/>
              <a:defRPr sz="5000"/>
            </a:lvl4pPr>
            <a:lvl5pPr marL="1828800" indent="0">
              <a:buFontTx/>
              <a:buNone/>
              <a:defRPr sz="5000"/>
            </a:lvl5pPr>
          </a:lstStyle>
          <a:p>
            <a:pPr lvl="0"/>
            <a:r>
              <a:rPr lang="en-US" dirty="0"/>
              <a:t>Click to add divider</a:t>
            </a:r>
            <a:br>
              <a:rPr lang="en-US" dirty="0"/>
            </a:br>
            <a:r>
              <a:rPr lang="en-US" dirty="0"/>
              <a:t>page title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F01B70B-B71A-381B-C2D6-7A4F880B9E88}"/>
              </a:ext>
            </a:extLst>
          </p:cNvPr>
          <p:cNvSpPr/>
          <p:nvPr userDrawn="1"/>
        </p:nvSpPr>
        <p:spPr>
          <a:xfrm>
            <a:off x="914400" y="46892"/>
            <a:ext cx="7573108" cy="7737231"/>
          </a:xfrm>
          <a:custGeom>
            <a:avLst/>
            <a:gdLst>
              <a:gd name="connsiteX0" fmla="*/ 140677 w 7573108"/>
              <a:gd name="connsiteY0" fmla="*/ 7643446 h 7737231"/>
              <a:gd name="connsiteX1" fmla="*/ 7573108 w 7573108"/>
              <a:gd name="connsiteY1" fmla="*/ 0 h 7737231"/>
              <a:gd name="connsiteX2" fmla="*/ 5767754 w 7573108"/>
              <a:gd name="connsiteY2" fmla="*/ 0 h 7737231"/>
              <a:gd name="connsiteX3" fmla="*/ 0 w 7573108"/>
              <a:gd name="connsiteY3" fmla="*/ 7737231 h 7737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73108" h="7737231">
                <a:moveTo>
                  <a:pt x="140677" y="7643446"/>
                </a:moveTo>
                <a:lnTo>
                  <a:pt x="7573108" y="0"/>
                </a:lnTo>
                <a:lnTo>
                  <a:pt x="5767754" y="0"/>
                </a:lnTo>
                <a:lnTo>
                  <a:pt x="0" y="7737231"/>
                </a:ln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AC2CA-45CA-BE3A-B263-1F4D61E70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773525" y="9501500"/>
            <a:ext cx="800100" cy="468000"/>
          </a:xfrm>
        </p:spPr>
        <p:txBody>
          <a:bodyPr/>
          <a:lstStyle/>
          <a:p>
            <a:fld id="{E2D680B1-7F17-42D2-83E2-2C9AC13983B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581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2E3D1-9794-DB83-C978-069C6BB721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02299-2EDA-F216-AA02-DD369FDBBF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375" y="1889656"/>
            <a:ext cx="16859250" cy="73255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F87E3-F69C-88FE-5D2A-D513631BF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680B1-7F17-42D2-83E2-2C9AC13983B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22D0E30-8C97-0C62-9094-8D3CF38657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2800" y="9520560"/>
            <a:ext cx="8619000" cy="4489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3600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/3 Chart and 1/3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2E3D1-9794-DB83-C978-069C6BB721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02299-2EDA-F216-AA02-DD369FDBBF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7654" y="1889656"/>
            <a:ext cx="5375970" cy="73255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F87E3-F69C-88FE-5D2A-D513631BF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680B1-7F17-42D2-83E2-2C9AC13983B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18B54F4-3212-393D-A934-571F2F7EC9D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14375" y="1889656"/>
            <a:ext cx="11026079" cy="73255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03149-442B-8EAA-BA7D-E9F6CCBA7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2800" y="9520560"/>
            <a:ext cx="8619000" cy="4489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468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/2 Chart and 1/2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2E3D1-9794-DB83-C978-069C6BB721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4375" y="317500"/>
            <a:ext cx="16859250" cy="1266827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02299-2EDA-F216-AA02-DD369FDBBF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72600" y="1889656"/>
            <a:ext cx="8201025" cy="73255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F87E3-F69C-88FE-5D2A-D513631BF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680B1-7F17-42D2-83E2-2C9AC13983B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18B54F4-3212-393D-A934-571F2F7EC9D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14375" y="1889656"/>
            <a:ext cx="8201025" cy="73255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1410E-3F60-2499-76A8-F25BD0C1A9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2800" y="9520560"/>
            <a:ext cx="8619000" cy="4489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7072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2E3D1-9794-DB83-C978-069C6BB721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F87E3-F69C-88FE-5D2A-D513631BF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680B1-7F17-42D2-83E2-2C9AC13983B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3A7D6DD-B72F-C610-7786-CA13806E48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2800" y="9520560"/>
            <a:ext cx="8619000" cy="4489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7684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2E3D1-9794-DB83-C978-069C6BB721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F87E3-F69C-88FE-5D2A-D513631BF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680B1-7F17-42D2-83E2-2C9AC13983B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9" name="Picture Placeholder 13">
            <a:extLst>
              <a:ext uri="{FF2B5EF4-FFF2-40B4-BE49-F238E27FC236}">
                <a16:creationId xmlns:a16="http://schemas.microsoft.com/office/drawing/2014/main" id="{9D74F7B4-56BE-27DF-FDAA-A1BCDA9A8F0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30550" y="2843450"/>
            <a:ext cx="1544312" cy="1544312"/>
          </a:xfrm>
          <a:prstGeom prst="ellipse">
            <a:avLst/>
          </a:prstGeom>
          <a:pattFill prst="pct1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 dirty="0"/>
          </a:p>
        </p:txBody>
      </p:sp>
      <p:sp>
        <p:nvSpPr>
          <p:cNvPr id="20" name="Picture Placeholder 13">
            <a:extLst>
              <a:ext uri="{FF2B5EF4-FFF2-40B4-BE49-F238E27FC236}">
                <a16:creationId xmlns:a16="http://schemas.microsoft.com/office/drawing/2014/main" id="{0C3A3381-05D7-EDB1-879C-6EB643DC25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28479" y="2843450"/>
            <a:ext cx="1544312" cy="1544312"/>
          </a:xfrm>
          <a:prstGeom prst="ellipse">
            <a:avLst/>
          </a:prstGeom>
          <a:pattFill prst="pct1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 dirty="0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3D2462CD-6AA5-05E5-182A-40899E86BAD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226408" y="2843450"/>
            <a:ext cx="1544312" cy="1544312"/>
          </a:xfrm>
          <a:prstGeom prst="ellipse">
            <a:avLst/>
          </a:prstGeom>
          <a:pattFill prst="pct1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 dirty="0"/>
          </a:p>
        </p:txBody>
      </p:sp>
      <p:sp>
        <p:nvSpPr>
          <p:cNvPr id="22" name="Picture Placeholder 13">
            <a:extLst>
              <a:ext uri="{FF2B5EF4-FFF2-40B4-BE49-F238E27FC236}">
                <a16:creationId xmlns:a16="http://schemas.microsoft.com/office/drawing/2014/main" id="{BA0F11DD-391D-B2C8-92A6-95898DED8AA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4024336" y="2843450"/>
            <a:ext cx="1544312" cy="1544312"/>
          </a:xfrm>
          <a:prstGeom prst="ellipse">
            <a:avLst/>
          </a:prstGeom>
          <a:pattFill prst="pct1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 dirty="0"/>
          </a:p>
        </p:txBody>
      </p:sp>
      <p:sp>
        <p:nvSpPr>
          <p:cNvPr id="27" name="Picture Placeholder 13">
            <a:extLst>
              <a:ext uri="{FF2B5EF4-FFF2-40B4-BE49-F238E27FC236}">
                <a16:creationId xmlns:a16="http://schemas.microsoft.com/office/drawing/2014/main" id="{A5B87F88-1840-FD6F-7724-6FBDEB1A574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30550" y="6665325"/>
            <a:ext cx="1544312" cy="1544312"/>
          </a:xfrm>
          <a:prstGeom prst="ellipse">
            <a:avLst/>
          </a:prstGeom>
          <a:pattFill prst="pct1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 dirty="0"/>
          </a:p>
        </p:txBody>
      </p:sp>
      <p:sp>
        <p:nvSpPr>
          <p:cNvPr id="28" name="Picture Placeholder 13">
            <a:extLst>
              <a:ext uri="{FF2B5EF4-FFF2-40B4-BE49-F238E27FC236}">
                <a16:creationId xmlns:a16="http://schemas.microsoft.com/office/drawing/2014/main" id="{A7D84A63-B331-8622-DDC5-4D5301BF64A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428479" y="6665325"/>
            <a:ext cx="1544312" cy="1544312"/>
          </a:xfrm>
          <a:prstGeom prst="ellipse">
            <a:avLst/>
          </a:prstGeom>
          <a:pattFill prst="pct1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 dirty="0"/>
          </a:p>
        </p:txBody>
      </p: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77DEBFB9-8C26-FDCE-39F7-E63395BC7EB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0226408" y="6665325"/>
            <a:ext cx="1544312" cy="1544312"/>
          </a:xfrm>
          <a:prstGeom prst="ellipse">
            <a:avLst/>
          </a:prstGeom>
          <a:pattFill prst="pct1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 dirty="0"/>
          </a:p>
        </p:txBody>
      </p:sp>
      <p:sp>
        <p:nvSpPr>
          <p:cNvPr id="30" name="Picture Placeholder 13">
            <a:extLst>
              <a:ext uri="{FF2B5EF4-FFF2-40B4-BE49-F238E27FC236}">
                <a16:creationId xmlns:a16="http://schemas.microsoft.com/office/drawing/2014/main" id="{44BA52C7-035F-7148-BCE9-2371B4EBE33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4024336" y="6665325"/>
            <a:ext cx="1544312" cy="1544312"/>
          </a:xfrm>
          <a:prstGeom prst="ellipse">
            <a:avLst/>
          </a:prstGeom>
          <a:pattFill prst="pct1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14FA3A6-A823-22B9-EE66-97CF5C1DEA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2800" y="9520560"/>
            <a:ext cx="8619000" cy="4489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820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2E3D1-9794-DB83-C978-069C6BB721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F87E3-F69C-88FE-5D2A-D513631BF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680B1-7F17-42D2-83E2-2C9AC13983B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5464D427-2C6E-5D04-E3B7-B54B4CFF374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4374" y="1889656"/>
            <a:ext cx="3871912" cy="2675550"/>
          </a:xfrm>
          <a:pattFill prst="pct10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1A55B09E-E458-56A4-BEBD-E3518AA50AB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43486" y="1889656"/>
            <a:ext cx="3871912" cy="2675550"/>
          </a:xfrm>
          <a:pattFill prst="pct10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D9712A65-1E55-1AAC-1F49-8686E5090E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372598" y="1889656"/>
            <a:ext cx="3871912" cy="2675550"/>
          </a:xfrm>
          <a:pattFill prst="pct10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138BBE78-D23B-C548-90A3-628D17816A8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3701711" y="1889656"/>
            <a:ext cx="3871912" cy="2675550"/>
          </a:xfrm>
          <a:pattFill prst="pct10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C935983-7755-5154-519D-9FE5EBA80E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2800" y="9520560"/>
            <a:ext cx="8619000" cy="4489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435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*3 Grid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2E3D1-9794-DB83-C978-069C6BB721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F87E3-F69C-88FE-5D2A-D513631BF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E2D680B1-7F17-42D2-83E2-2C9AC13983B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2BE1B0A-3EFA-CDCD-ACC1-0E1BD80F6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1675" y="2562752"/>
            <a:ext cx="5436871" cy="2852532"/>
          </a:xfrm>
        </p:spPr>
        <p:txBody>
          <a:bodyPr lIns="91440" tIns="0" rIns="91440" bIns="0">
            <a:norm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 sz="20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defRPr sz="20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defRPr sz="20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300"/>
              </a:spcBef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3077C04-EE84-814F-7B2F-0CC65C0D53C1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714375" y="1889656"/>
            <a:ext cx="5436871" cy="521565"/>
          </a:xfrm>
          <a:solidFill>
            <a:schemeClr val="accent1"/>
          </a:solidFill>
        </p:spPr>
        <p:txBody>
          <a:bodyPr lIns="91440" tIns="0" rIns="91440" bIns="0" anchor="ctr">
            <a:normAutofit/>
          </a:bodyPr>
          <a:lstStyle>
            <a:lvl1pPr marL="0" indent="0">
              <a:lnSpc>
                <a:spcPct val="100000"/>
              </a:lnSpc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685800" indent="0">
              <a:buFontTx/>
              <a:buNone/>
              <a:defRPr sz="2700">
                <a:solidFill>
                  <a:schemeClr val="tx1"/>
                </a:solidFill>
              </a:defRPr>
            </a:lvl2pPr>
            <a:lvl3pPr marL="1371600" indent="0">
              <a:buFontTx/>
              <a:buNone/>
              <a:defRPr sz="2400">
                <a:solidFill>
                  <a:schemeClr val="tx1"/>
                </a:solidFill>
              </a:defRPr>
            </a:lvl3pPr>
            <a:lvl4pPr marL="2057400" indent="0">
              <a:buFontTx/>
              <a:buNone/>
              <a:defRPr sz="2100">
                <a:solidFill>
                  <a:schemeClr val="tx1"/>
                </a:solidFill>
              </a:defRPr>
            </a:lvl4pPr>
            <a:lvl5pPr marL="2743200" indent="0">
              <a:buFontTx/>
              <a:buNone/>
              <a:defRPr sz="2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  <a:endParaRPr lang="en-IN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293B461-3AC5-965C-0E00-0FEB9D48CE4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425564" y="2562752"/>
            <a:ext cx="5436871" cy="2852532"/>
          </a:xfrm>
        </p:spPr>
        <p:txBody>
          <a:bodyPr lIns="91440" tIns="0" rIns="91440" bIns="0">
            <a:norm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 sz="20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defRPr sz="20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defRPr sz="20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300"/>
              </a:spcBef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7D520F5-6EC0-AC8D-1668-71F10795B5C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425564" y="1894624"/>
            <a:ext cx="5436871" cy="521565"/>
          </a:xfrm>
          <a:solidFill>
            <a:schemeClr val="accent2"/>
          </a:solidFill>
        </p:spPr>
        <p:txBody>
          <a:bodyPr lIns="91440" tIns="0" rIns="91440" bIns="0" anchor="ctr">
            <a:normAutofit/>
          </a:bodyPr>
          <a:lstStyle>
            <a:lvl1pPr marL="0" indent="0">
              <a:lnSpc>
                <a:spcPct val="100000"/>
              </a:lnSpc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685800" indent="0">
              <a:buFontTx/>
              <a:buNone/>
              <a:defRPr sz="2700">
                <a:solidFill>
                  <a:schemeClr val="tx1"/>
                </a:solidFill>
              </a:defRPr>
            </a:lvl2pPr>
            <a:lvl3pPr marL="1371600" indent="0">
              <a:buFontTx/>
              <a:buNone/>
              <a:defRPr sz="2400">
                <a:solidFill>
                  <a:schemeClr val="tx1"/>
                </a:solidFill>
              </a:defRPr>
            </a:lvl3pPr>
            <a:lvl4pPr marL="2057400" indent="0">
              <a:buFontTx/>
              <a:buNone/>
              <a:defRPr sz="2100">
                <a:solidFill>
                  <a:schemeClr val="tx1"/>
                </a:solidFill>
              </a:defRPr>
            </a:lvl4pPr>
            <a:lvl5pPr marL="2743200" indent="0">
              <a:buFontTx/>
              <a:buNone/>
              <a:defRPr sz="2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  <a:endParaRPr lang="en-IN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08B1C77-9500-179A-EE6E-18BD895ED017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12136754" y="2562752"/>
            <a:ext cx="5436871" cy="2852532"/>
          </a:xfrm>
        </p:spPr>
        <p:txBody>
          <a:bodyPr lIns="91440" tIns="0" rIns="91440" bIns="0">
            <a:norm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 sz="20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defRPr sz="20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defRPr sz="20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300"/>
              </a:spcBef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B8B7790-3428-1A55-8625-94F1FC2419D2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2136754" y="1894624"/>
            <a:ext cx="5436871" cy="521565"/>
          </a:xfrm>
          <a:solidFill>
            <a:schemeClr val="accent3"/>
          </a:solidFill>
        </p:spPr>
        <p:txBody>
          <a:bodyPr lIns="91440" tIns="0" rIns="91440" bIns="0" anchor="ctr">
            <a:normAutofit/>
          </a:bodyPr>
          <a:lstStyle>
            <a:lvl1pPr marL="0" indent="0">
              <a:lnSpc>
                <a:spcPct val="100000"/>
              </a:lnSpc>
              <a:buFontTx/>
              <a:buNone/>
              <a:defRPr sz="2000" b="1">
                <a:solidFill>
                  <a:schemeClr val="tx1"/>
                </a:solidFill>
              </a:defRPr>
            </a:lvl1pPr>
            <a:lvl2pPr marL="685800" indent="0">
              <a:buFontTx/>
              <a:buNone/>
              <a:defRPr sz="2700">
                <a:solidFill>
                  <a:schemeClr val="tx1"/>
                </a:solidFill>
              </a:defRPr>
            </a:lvl2pPr>
            <a:lvl3pPr marL="1371600" indent="0">
              <a:buFontTx/>
              <a:buNone/>
              <a:defRPr sz="2400">
                <a:solidFill>
                  <a:schemeClr val="tx1"/>
                </a:solidFill>
              </a:defRPr>
            </a:lvl3pPr>
            <a:lvl4pPr marL="2057400" indent="0">
              <a:buFontTx/>
              <a:buNone/>
              <a:defRPr sz="2100">
                <a:solidFill>
                  <a:schemeClr val="tx1"/>
                </a:solidFill>
              </a:defRPr>
            </a:lvl4pPr>
            <a:lvl5pPr marL="2743200" indent="0">
              <a:buFontTx/>
              <a:buNone/>
              <a:defRPr sz="2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  <a:endParaRPr lang="en-IN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A4714B2-4ED7-3602-5E04-E68455AC5979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701675" y="6362700"/>
            <a:ext cx="5436871" cy="2852532"/>
          </a:xfrm>
        </p:spPr>
        <p:txBody>
          <a:bodyPr lIns="91440" tIns="0" rIns="91440" bIns="0">
            <a:norm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 sz="20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defRPr sz="20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defRPr sz="20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300"/>
              </a:spcBef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916D0D2-1072-1B37-B2A3-E84B806E1C92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714375" y="5689604"/>
            <a:ext cx="5436871" cy="521565"/>
          </a:xfrm>
          <a:solidFill>
            <a:schemeClr val="accent1"/>
          </a:solidFill>
        </p:spPr>
        <p:txBody>
          <a:bodyPr lIns="91440" tIns="0" rIns="91440" bIns="0" anchor="ctr">
            <a:normAutofit/>
          </a:bodyPr>
          <a:lstStyle>
            <a:lvl1pPr marL="0" indent="0">
              <a:lnSpc>
                <a:spcPct val="100000"/>
              </a:lnSpc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685800" indent="0">
              <a:buFontTx/>
              <a:buNone/>
              <a:defRPr sz="2700">
                <a:solidFill>
                  <a:schemeClr val="tx1"/>
                </a:solidFill>
              </a:defRPr>
            </a:lvl2pPr>
            <a:lvl3pPr marL="1371600" indent="0">
              <a:buFontTx/>
              <a:buNone/>
              <a:defRPr sz="2400">
                <a:solidFill>
                  <a:schemeClr val="tx1"/>
                </a:solidFill>
              </a:defRPr>
            </a:lvl3pPr>
            <a:lvl4pPr marL="2057400" indent="0">
              <a:buFontTx/>
              <a:buNone/>
              <a:defRPr sz="2100">
                <a:solidFill>
                  <a:schemeClr val="tx1"/>
                </a:solidFill>
              </a:defRPr>
            </a:lvl4pPr>
            <a:lvl5pPr marL="2743200" indent="0">
              <a:buFontTx/>
              <a:buNone/>
              <a:defRPr sz="2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  <a:endParaRPr lang="en-IN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9F92FDE-4A52-5B65-C311-BCA14C41BB6A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425564" y="6362700"/>
            <a:ext cx="5436871" cy="2852532"/>
          </a:xfrm>
        </p:spPr>
        <p:txBody>
          <a:bodyPr lIns="91440" tIns="0" rIns="91440" bIns="0">
            <a:norm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 sz="20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defRPr sz="20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defRPr sz="20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300"/>
              </a:spcBef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6A15F03-CC85-9E5B-73B8-2E73B47E40CA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6425564" y="5689604"/>
            <a:ext cx="5436871" cy="521565"/>
          </a:xfrm>
          <a:solidFill>
            <a:schemeClr val="accent2"/>
          </a:solidFill>
        </p:spPr>
        <p:txBody>
          <a:bodyPr lIns="91440" tIns="0" rIns="91440" bIns="0" anchor="ctr">
            <a:normAutofit/>
          </a:bodyPr>
          <a:lstStyle>
            <a:lvl1pPr marL="0" indent="0">
              <a:lnSpc>
                <a:spcPct val="100000"/>
              </a:lnSpc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685800" indent="0">
              <a:buFontTx/>
              <a:buNone/>
              <a:defRPr sz="2700">
                <a:solidFill>
                  <a:schemeClr val="tx1"/>
                </a:solidFill>
              </a:defRPr>
            </a:lvl2pPr>
            <a:lvl3pPr marL="1371600" indent="0">
              <a:buFontTx/>
              <a:buNone/>
              <a:defRPr sz="2400">
                <a:solidFill>
                  <a:schemeClr val="tx1"/>
                </a:solidFill>
              </a:defRPr>
            </a:lvl3pPr>
            <a:lvl4pPr marL="2057400" indent="0">
              <a:buFontTx/>
              <a:buNone/>
              <a:defRPr sz="2100">
                <a:solidFill>
                  <a:schemeClr val="tx1"/>
                </a:solidFill>
              </a:defRPr>
            </a:lvl4pPr>
            <a:lvl5pPr marL="2743200" indent="0">
              <a:buFontTx/>
              <a:buNone/>
              <a:defRPr sz="2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  <a:endParaRPr lang="en-IN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49A53EF9-EA9A-60BD-3F5E-3045DE69141C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12136754" y="6362700"/>
            <a:ext cx="5436871" cy="2852532"/>
          </a:xfrm>
        </p:spPr>
        <p:txBody>
          <a:bodyPr lIns="91440" tIns="0" rIns="91440" bIns="0">
            <a:norm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 sz="20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defRPr sz="20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defRPr sz="20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300"/>
              </a:spcBef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9413566-88CF-1923-92B0-48B2B74519A2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12136754" y="5689604"/>
            <a:ext cx="5436871" cy="521565"/>
          </a:xfrm>
          <a:solidFill>
            <a:schemeClr val="accent3"/>
          </a:solidFill>
        </p:spPr>
        <p:txBody>
          <a:bodyPr lIns="91440" tIns="0" rIns="91440" bIns="0" anchor="ctr">
            <a:normAutofit/>
          </a:bodyPr>
          <a:lstStyle>
            <a:lvl1pPr marL="0" indent="0">
              <a:lnSpc>
                <a:spcPct val="100000"/>
              </a:lnSpc>
              <a:buFontTx/>
              <a:buNone/>
              <a:defRPr sz="2000" b="1">
                <a:solidFill>
                  <a:schemeClr val="tx1"/>
                </a:solidFill>
              </a:defRPr>
            </a:lvl1pPr>
            <a:lvl2pPr marL="685800" indent="0">
              <a:buFontTx/>
              <a:buNone/>
              <a:defRPr sz="2700">
                <a:solidFill>
                  <a:schemeClr val="tx1"/>
                </a:solidFill>
              </a:defRPr>
            </a:lvl2pPr>
            <a:lvl3pPr marL="1371600" indent="0">
              <a:buFontTx/>
              <a:buNone/>
              <a:defRPr sz="2400">
                <a:solidFill>
                  <a:schemeClr val="tx1"/>
                </a:solidFill>
              </a:defRPr>
            </a:lvl3pPr>
            <a:lvl4pPr marL="2057400" indent="0">
              <a:buFontTx/>
              <a:buNone/>
              <a:defRPr sz="2100">
                <a:solidFill>
                  <a:schemeClr val="tx1"/>
                </a:solidFill>
              </a:defRPr>
            </a:lvl4pPr>
            <a:lvl5pPr marL="2743200" indent="0">
              <a:buFontTx/>
              <a:buNone/>
              <a:defRPr sz="2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  <a:endParaRPr lang="en-IN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5ACDC91-19E7-0788-BDCD-F383247D74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2800" y="9520560"/>
            <a:ext cx="8619000" cy="4489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184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2E3D1-9794-DB83-C978-069C6BB721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F87E3-F69C-88FE-5D2A-D513631BF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680B1-7F17-42D2-83E2-2C9AC13983B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hart Placeholder 7">
            <a:extLst>
              <a:ext uri="{FF2B5EF4-FFF2-40B4-BE49-F238E27FC236}">
                <a16:creationId xmlns:a16="http://schemas.microsoft.com/office/drawing/2014/main" id="{A105976E-98CC-1525-77A5-60BC6F8246EB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714375" y="1889656"/>
            <a:ext cx="16859250" cy="35256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19CB5D3D-57C5-FAB3-47E0-27E2CF1A9208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14375" y="5689604"/>
            <a:ext cx="16859250" cy="35256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5A63069-1EAF-AC1C-97F9-C6A4F1AC74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2800" y="9520560"/>
            <a:ext cx="8619000" cy="4489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6448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har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2E3D1-9794-DB83-C978-069C6BB721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F87E3-F69C-88FE-5D2A-D513631BF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680B1-7F17-42D2-83E2-2C9AC13983B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hart Placeholder 7">
            <a:extLst>
              <a:ext uri="{FF2B5EF4-FFF2-40B4-BE49-F238E27FC236}">
                <a16:creationId xmlns:a16="http://schemas.microsoft.com/office/drawing/2014/main" id="{A105976E-98CC-1525-77A5-60BC6F8246EB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714375" y="1889656"/>
            <a:ext cx="8292465" cy="35256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19CB5D3D-57C5-FAB3-47E0-27E2CF1A9208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14375" y="5689604"/>
            <a:ext cx="8292465" cy="35256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hart Placeholder 7">
            <a:extLst>
              <a:ext uri="{FF2B5EF4-FFF2-40B4-BE49-F238E27FC236}">
                <a16:creationId xmlns:a16="http://schemas.microsoft.com/office/drawing/2014/main" id="{F18304E0-C823-297F-1C17-7F2A2CD282EF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9281160" y="1889656"/>
            <a:ext cx="8292465" cy="35256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B8C256F-1E8E-317C-6DDA-154F8353D9A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281160" y="5689604"/>
            <a:ext cx="8292465" cy="35256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8F72F67-E422-837C-5299-028113A715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2800" y="9520560"/>
            <a:ext cx="8619000" cy="4489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8983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har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2E3D1-9794-DB83-C978-069C6BB721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F87E3-F69C-88FE-5D2A-D513631BF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680B1-7F17-42D2-83E2-2C9AC13983B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hart Placeholder 7">
            <a:extLst>
              <a:ext uri="{FF2B5EF4-FFF2-40B4-BE49-F238E27FC236}">
                <a16:creationId xmlns:a16="http://schemas.microsoft.com/office/drawing/2014/main" id="{A105976E-98CC-1525-77A5-60BC6F8246EB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714375" y="1889656"/>
            <a:ext cx="8292465" cy="35256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19CB5D3D-57C5-FAB3-47E0-27E2CF1A9208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281160" y="1889656"/>
            <a:ext cx="8292465" cy="35256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hart Placeholder 7">
            <a:extLst>
              <a:ext uri="{FF2B5EF4-FFF2-40B4-BE49-F238E27FC236}">
                <a16:creationId xmlns:a16="http://schemas.microsoft.com/office/drawing/2014/main" id="{F18304E0-C823-297F-1C17-7F2A2CD282EF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714375" y="5689604"/>
            <a:ext cx="8292465" cy="35256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B8C256F-1E8E-317C-6DDA-154F8353D9A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281160" y="5689604"/>
            <a:ext cx="8292465" cy="35256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5E5A91E-2C73-14D1-B898-2EBE3672C0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2800" y="9520560"/>
            <a:ext cx="8619000" cy="4489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8951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har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2E3D1-9794-DB83-C978-069C6BB721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F87E3-F69C-88FE-5D2A-D513631BF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680B1-7F17-42D2-83E2-2C9AC13983B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hart Placeholder 7">
            <a:extLst>
              <a:ext uri="{FF2B5EF4-FFF2-40B4-BE49-F238E27FC236}">
                <a16:creationId xmlns:a16="http://schemas.microsoft.com/office/drawing/2014/main" id="{A105976E-98CC-1525-77A5-60BC6F8246EB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714375" y="1889656"/>
            <a:ext cx="8292465" cy="35256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Chart Placeholder 7">
            <a:extLst>
              <a:ext uri="{FF2B5EF4-FFF2-40B4-BE49-F238E27FC236}">
                <a16:creationId xmlns:a16="http://schemas.microsoft.com/office/drawing/2014/main" id="{F18304E0-C823-297F-1C17-7F2A2CD282EF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714375" y="5689604"/>
            <a:ext cx="8292465" cy="35256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Chart Placeholder 7">
            <a:extLst>
              <a:ext uri="{FF2B5EF4-FFF2-40B4-BE49-F238E27FC236}">
                <a16:creationId xmlns:a16="http://schemas.microsoft.com/office/drawing/2014/main" id="{0D87B413-325F-DFE4-4CD4-DB642FFB860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9281160" y="1889656"/>
            <a:ext cx="8292465" cy="35256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Chart Placeholder 7">
            <a:extLst>
              <a:ext uri="{FF2B5EF4-FFF2-40B4-BE49-F238E27FC236}">
                <a16:creationId xmlns:a16="http://schemas.microsoft.com/office/drawing/2014/main" id="{55F0A100-1971-96D3-AD25-96E598F8B47A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9281160" y="5689604"/>
            <a:ext cx="8292465" cy="35256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3705F-9234-C263-3A1B-3A252A19B0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2800" y="9520560"/>
            <a:ext cx="8619000" cy="4489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19039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har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2E3D1-9794-DB83-C978-069C6BB721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F87E3-F69C-88FE-5D2A-D513631BF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680B1-7F17-42D2-83E2-2C9AC13983B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hart Placeholder 7">
            <a:extLst>
              <a:ext uri="{FF2B5EF4-FFF2-40B4-BE49-F238E27FC236}">
                <a16:creationId xmlns:a16="http://schemas.microsoft.com/office/drawing/2014/main" id="{A105976E-98CC-1525-77A5-60BC6F8246EB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040630" y="1889656"/>
            <a:ext cx="3880485" cy="35256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Chart Placeholder 7">
            <a:extLst>
              <a:ext uri="{FF2B5EF4-FFF2-40B4-BE49-F238E27FC236}">
                <a16:creationId xmlns:a16="http://schemas.microsoft.com/office/drawing/2014/main" id="{F18304E0-C823-297F-1C17-7F2A2CD282EF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714375" y="1889656"/>
            <a:ext cx="3880485" cy="35256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Chart Placeholder 7">
            <a:extLst>
              <a:ext uri="{FF2B5EF4-FFF2-40B4-BE49-F238E27FC236}">
                <a16:creationId xmlns:a16="http://schemas.microsoft.com/office/drawing/2014/main" id="{0D87B413-325F-DFE4-4CD4-DB642FFB860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13693140" y="1889656"/>
            <a:ext cx="3880485" cy="35256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Chart Placeholder 7">
            <a:extLst>
              <a:ext uri="{FF2B5EF4-FFF2-40B4-BE49-F238E27FC236}">
                <a16:creationId xmlns:a16="http://schemas.microsoft.com/office/drawing/2014/main" id="{55F0A100-1971-96D3-AD25-96E598F8B47A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9366885" y="1889656"/>
            <a:ext cx="3880485" cy="35256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E0C1D-F688-75FA-168B-CF3FAA201C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2800" y="9520560"/>
            <a:ext cx="8619000" cy="4489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4846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har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2E3D1-9794-DB83-C978-069C6BB721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F87E3-F69C-88FE-5D2A-D513631BF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680B1-7F17-42D2-83E2-2C9AC13983B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hart Placeholder 7">
            <a:extLst>
              <a:ext uri="{FF2B5EF4-FFF2-40B4-BE49-F238E27FC236}">
                <a16:creationId xmlns:a16="http://schemas.microsoft.com/office/drawing/2014/main" id="{A105976E-98CC-1525-77A5-60BC6F8246EB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11218918" y="1889655"/>
            <a:ext cx="6354707" cy="732557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19CB5D3D-57C5-FAB3-47E0-27E2CF1A9208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14375" y="1889655"/>
            <a:ext cx="10230224" cy="73255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B0F2C62-4F31-15FD-84E2-56D51B71A4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2800" y="9520560"/>
            <a:ext cx="8619000" cy="4489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2185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har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2E3D1-9794-DB83-C978-069C6BB721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F87E3-F69C-88FE-5D2A-D513631BF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680B1-7F17-42D2-83E2-2C9AC13983B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hart Placeholder 7">
            <a:extLst>
              <a:ext uri="{FF2B5EF4-FFF2-40B4-BE49-F238E27FC236}">
                <a16:creationId xmlns:a16="http://schemas.microsoft.com/office/drawing/2014/main" id="{A105976E-98CC-1525-77A5-60BC6F8246EB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425564" y="1889656"/>
            <a:ext cx="5436871" cy="35256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Chart Placeholder 7">
            <a:extLst>
              <a:ext uri="{FF2B5EF4-FFF2-40B4-BE49-F238E27FC236}">
                <a16:creationId xmlns:a16="http://schemas.microsoft.com/office/drawing/2014/main" id="{F18304E0-C823-297F-1C17-7F2A2CD282EF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714375" y="1889656"/>
            <a:ext cx="5436871" cy="35256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Chart Placeholder 7">
            <a:extLst>
              <a:ext uri="{FF2B5EF4-FFF2-40B4-BE49-F238E27FC236}">
                <a16:creationId xmlns:a16="http://schemas.microsoft.com/office/drawing/2014/main" id="{55F0A100-1971-96D3-AD25-96E598F8B47A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12136754" y="1889656"/>
            <a:ext cx="5436871" cy="35256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5A7FA16-0C02-E692-8526-16F583C3F04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14375" y="5689604"/>
            <a:ext cx="5436871" cy="35256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42B77EF-A62E-AAFD-BC1D-629764A00EC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6425564" y="5689604"/>
            <a:ext cx="5436871" cy="35256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E870889-49DC-DDA8-AC0C-91F97C821391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12136754" y="5689604"/>
            <a:ext cx="5436871" cy="35256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050601D-DC9F-2EFA-8CF3-B8A12ACF30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2800" y="9520560"/>
            <a:ext cx="8619000" cy="4489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5453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74A52-9FFC-AC39-C5C6-B5E84AC59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2253" y="317500"/>
            <a:ext cx="9420224" cy="126682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2FC55-4D2C-6A55-9DC3-D3F5645AFAB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122253" y="9520560"/>
            <a:ext cx="7776000" cy="44894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DAABA0-A95A-CC14-B3A9-50073A443CF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2D680B1-7F17-42D2-83E2-2C9AC13983B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4638F13-1CD3-7690-D13A-99CF303E4C3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7315200" cy="10287000"/>
          </a:xfrm>
          <a:pattFill prst="pct5">
            <a:fgClr>
              <a:schemeClr val="bg1">
                <a:lumMod val="50000"/>
              </a:schemeClr>
            </a:fgClr>
            <a:bgClr>
              <a:schemeClr val="bg1"/>
            </a:bgClr>
          </a:patt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793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oleObject" Target="../embeddings/oleObject1.bin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3F66BD8F-401F-2DBF-0BEE-85CAEC4F13C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0"/>
            </p:custDataLst>
            <p:extLst>
              <p:ext uri="{D42A27DB-BD31-4B8C-83A1-F6EECF244321}">
                <p14:modId xmlns:p14="http://schemas.microsoft.com/office/powerpoint/2010/main" val="6355848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1" imgW="347" imgH="348" progId="TCLayout.ActiveDocument.1">
                  <p:embed/>
                </p:oleObj>
              </mc:Choice>
              <mc:Fallback>
                <p:oleObj name="think-cell Slide" r:id="rId21" imgW="347" imgH="348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F66BD8F-401F-2DBF-0BEE-85CAEC4F13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4C60E1-108D-7890-2148-7CDB8BD50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5" y="317500"/>
            <a:ext cx="16859250" cy="126682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527DE4-6E8F-79F4-2C2B-8BC05FCBF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4375" y="1889656"/>
            <a:ext cx="16859250" cy="732557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E5665-37C2-54D6-D1C6-35E05DF839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773525" y="9501500"/>
            <a:ext cx="800100" cy="46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fld id="{E2D680B1-7F17-42D2-83E2-2C9AC13983B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: Top Corners Rounded 20">
            <a:extLst>
              <a:ext uri="{FF2B5EF4-FFF2-40B4-BE49-F238E27FC236}">
                <a16:creationId xmlns:a16="http://schemas.microsoft.com/office/drawing/2014/main" id="{959F2CA7-B6BF-8125-5E2E-6835373F22E4}"/>
              </a:ext>
            </a:extLst>
          </p:cNvPr>
          <p:cNvSpPr/>
          <p:nvPr userDrawn="1"/>
        </p:nvSpPr>
        <p:spPr>
          <a:xfrm rot="5400000" flipH="1">
            <a:off x="-492444" y="809943"/>
            <a:ext cx="1289687" cy="3048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D220426-4054-0550-CCFE-D2AFE3352B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05200" y="9520560"/>
            <a:ext cx="8466600" cy="44894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3272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85" r:id="rId2"/>
    <p:sldLayoutId id="2147483687" r:id="rId3"/>
    <p:sldLayoutId id="2147483662" r:id="rId4"/>
    <p:sldLayoutId id="2147483695" r:id="rId5"/>
    <p:sldLayoutId id="2147483696" r:id="rId6"/>
    <p:sldLayoutId id="2147483676" r:id="rId7"/>
    <p:sldLayoutId id="2147483697" r:id="rId8"/>
    <p:sldLayoutId id="2147483698" r:id="rId9"/>
    <p:sldLayoutId id="2147483678" r:id="rId10"/>
    <p:sldLayoutId id="2147483679" r:id="rId11"/>
    <p:sldLayoutId id="2147483681" r:id="rId12"/>
    <p:sldLayoutId id="2147483682" r:id="rId13"/>
    <p:sldLayoutId id="2147483683" r:id="rId14"/>
    <p:sldLayoutId id="2147483684" r:id="rId15"/>
    <p:sldLayoutId id="2147483680" r:id="rId16"/>
    <p:sldLayoutId id="2147483688" r:id="rId17"/>
    <p:sldLayoutId id="2147483692" r:id="rId18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accent1"/>
          </a:solidFill>
          <a:latin typeface="Arial" panose="020B0604020202020204" pitchFamily="34" charset="0"/>
          <a:ea typeface="Calibri" panose="020F0502020204030204" pitchFamily="34" charset="0"/>
          <a:cs typeface="Arial" panose="020B0604020202020204" pitchFamily="34" charset="0"/>
        </a:defRPr>
      </a:lvl1pPr>
    </p:titleStyle>
    <p:bodyStyle>
      <a:lvl1pPr marL="360000" indent="-36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Symbol" panose="05050102010706020507" pitchFamily="18" charset="2"/>
        <a:buChar char=""/>
        <a:defRPr sz="2000" kern="1200">
          <a:solidFill>
            <a:schemeClr val="tx1"/>
          </a:solidFill>
          <a:latin typeface="Arial" panose="020B0604020202020204" pitchFamily="34" charset="0"/>
          <a:ea typeface="Calibri" panose="020F0502020204030204" pitchFamily="34" charset="0"/>
          <a:cs typeface="Arial" panose="020B0604020202020204" pitchFamily="34" charset="0"/>
        </a:defRPr>
      </a:lvl1pPr>
      <a:lvl2pPr marL="720000" indent="-36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Symbol" panose="05050102010706020507" pitchFamily="18" charset="2"/>
        <a:buChar char=""/>
        <a:defRPr sz="2000" kern="1200">
          <a:solidFill>
            <a:schemeClr val="tx1"/>
          </a:solidFill>
          <a:latin typeface="Arial" panose="020B0604020202020204" pitchFamily="34" charset="0"/>
          <a:ea typeface="Calibri" panose="020F0502020204030204" pitchFamily="34" charset="0"/>
          <a:cs typeface="Arial" panose="020B0604020202020204" pitchFamily="34" charset="0"/>
        </a:defRPr>
      </a:lvl2pPr>
      <a:lvl3pPr marL="1080000" indent="-36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Symbol" panose="05050102010706020507" pitchFamily="18" charset="2"/>
        <a:buChar char=""/>
        <a:defRPr sz="2000" kern="1200">
          <a:solidFill>
            <a:schemeClr val="tx1"/>
          </a:solidFill>
          <a:latin typeface="Arial" panose="020B0604020202020204" pitchFamily="34" charset="0"/>
          <a:ea typeface="Calibri" panose="020F0502020204030204" pitchFamily="34" charset="0"/>
          <a:cs typeface="Arial" panose="020B0604020202020204" pitchFamily="34" charset="0"/>
        </a:defRPr>
      </a:lvl3pPr>
      <a:lvl4pPr marL="1440000" indent="-36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Symbol" panose="05050102010706020507" pitchFamily="18" charset="2"/>
        <a:buChar char=""/>
        <a:defRPr sz="2000" kern="1200">
          <a:solidFill>
            <a:schemeClr val="tx1"/>
          </a:solidFill>
          <a:latin typeface="Arial" panose="020B0604020202020204" pitchFamily="34" charset="0"/>
          <a:ea typeface="Calibri" panose="020F0502020204030204" pitchFamily="34" charset="0"/>
          <a:cs typeface="Arial" panose="020B0604020202020204" pitchFamily="34" charset="0"/>
        </a:defRPr>
      </a:lvl4pPr>
      <a:lvl5pPr marL="1800000" indent="-36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Symbol" panose="05050102010706020507" pitchFamily="18" charset="2"/>
        <a:buChar char=""/>
        <a:defRPr sz="2000" kern="1200">
          <a:solidFill>
            <a:schemeClr val="tx1"/>
          </a:solidFill>
          <a:latin typeface="Arial" panose="020B0604020202020204" pitchFamily="34" charset="0"/>
          <a:ea typeface="Calibri" panose="020F0502020204030204" pitchFamily="34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02" userDrawn="1">
          <p15:clr>
            <a:srgbClr val="F26B43"/>
          </p15:clr>
        </p15:guide>
        <p15:guide id="2" pos="442" userDrawn="1">
          <p15:clr>
            <a:srgbClr val="F26B43"/>
          </p15:clr>
        </p15:guide>
        <p15:guide id="3" pos="11078" userDrawn="1">
          <p15:clr>
            <a:srgbClr val="F26B43"/>
          </p15:clr>
        </p15:guide>
        <p15:guide id="4" orient="horz" pos="1008" userDrawn="1">
          <p15:clr>
            <a:srgbClr val="F26B43"/>
          </p15:clr>
        </p15:guide>
        <p15:guide id="5" orient="horz" pos="1190" userDrawn="1">
          <p15:clr>
            <a:srgbClr val="F26B43"/>
          </p15:clr>
        </p15:guide>
        <p15:guide id="6" orient="horz" pos="6278" userDrawn="1">
          <p15:clr>
            <a:srgbClr val="F26B43"/>
          </p15:clr>
        </p15:guide>
        <p15:guide id="7" orient="horz" pos="581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1E0F433-23FC-8654-58D1-7B4DF2E7D1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88860" y="3866701"/>
            <a:ext cx="10522140" cy="1715400"/>
          </a:xfrm>
        </p:spPr>
        <p:txBody>
          <a:bodyPr/>
          <a:lstStyle/>
          <a:p>
            <a:r>
              <a:rPr lang="en-US" sz="4800"/>
              <a:t>Superstore Profitability Analysis</a:t>
            </a:r>
            <a:endParaRPr lang="en-US" sz="4800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8822CF3-859B-F599-AB7F-9DA823AE460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8860" y="6057900"/>
            <a:ext cx="8091397" cy="438601"/>
          </a:xfrm>
        </p:spPr>
        <p:txBody>
          <a:bodyPr/>
          <a:lstStyle/>
          <a:p>
            <a:r>
              <a:rPr lang="en-US" dirty="0"/>
              <a:t>Pablo García Maya</a:t>
            </a:r>
          </a:p>
        </p:txBody>
      </p:sp>
    </p:spTree>
    <p:extLst>
      <p:ext uri="{BB962C8B-B14F-4D97-AF65-F5344CB8AC3E}">
        <p14:creationId xmlns:p14="http://schemas.microsoft.com/office/powerpoint/2010/main" val="4161846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648BA-7BDF-E7CE-7708-39857F0A8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5" y="317500"/>
            <a:ext cx="16859250" cy="1266827"/>
          </a:xfrm>
        </p:spPr>
        <p:txBody>
          <a:bodyPr anchor="ctr"/>
          <a:lstStyle/>
          <a:p>
            <a:r>
              <a:rPr lang="en-US" dirty="0"/>
              <a:t>Table of Contents</a:t>
            </a:r>
            <a:endParaRPr lang="en-IN" dirty="0"/>
          </a:p>
        </p:txBody>
      </p:sp>
      <p:sp>
        <p:nvSpPr>
          <p:cNvPr id="4" name="Google Shape;586;p33">
            <a:extLst>
              <a:ext uri="{FF2B5EF4-FFF2-40B4-BE49-F238E27FC236}">
                <a16:creationId xmlns:a16="http://schemas.microsoft.com/office/drawing/2014/main" id="{713D6B84-9102-0C82-88FE-7F5025201616}"/>
              </a:ext>
            </a:extLst>
          </p:cNvPr>
          <p:cNvSpPr txBox="1">
            <a:spLocks/>
          </p:cNvSpPr>
          <p:nvPr/>
        </p:nvSpPr>
        <p:spPr>
          <a:xfrm>
            <a:off x="971550" y="2908808"/>
            <a:ext cx="1879718" cy="1740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 Black"/>
              <a:buNone/>
              <a:defRPr sz="4100" b="0" i="0" u="none" strike="noStrike" cap="none">
                <a:solidFill>
                  <a:schemeClr val="l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1371600">
              <a:buClr>
                <a:srgbClr val="151F29"/>
              </a:buClr>
              <a:defRPr/>
            </a:pPr>
            <a:r>
              <a:rPr lang="en" sz="7200" b="1" kern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8" name="Google Shape;590;p33">
            <a:extLst>
              <a:ext uri="{FF2B5EF4-FFF2-40B4-BE49-F238E27FC236}">
                <a16:creationId xmlns:a16="http://schemas.microsoft.com/office/drawing/2014/main" id="{21A552EE-6332-00AF-488C-32DB3C3772C7}"/>
              </a:ext>
            </a:extLst>
          </p:cNvPr>
          <p:cNvSpPr txBox="1">
            <a:spLocks/>
          </p:cNvSpPr>
          <p:nvPr/>
        </p:nvSpPr>
        <p:spPr>
          <a:xfrm>
            <a:off x="2533812" y="3648623"/>
            <a:ext cx="5695788" cy="122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l" defTabSz="1371600">
              <a:buClr>
                <a:srgbClr val="151F29"/>
              </a:buClr>
              <a:buSzPts val="1100"/>
              <a:defRPr/>
            </a:pPr>
            <a:r>
              <a:rPr lang="en-US" sz="2400" kern="0" dirty="0">
                <a:latin typeface="Arial" panose="020B0604020202020204" pitchFamily="34" charset="0"/>
                <a:cs typeface="Arial" panose="020B0604020202020204" pitchFamily="34" charset="0"/>
              </a:rPr>
              <a:t>Understanding why strong sales performance is not translating into profitability</a:t>
            </a:r>
          </a:p>
        </p:txBody>
      </p:sp>
      <p:sp>
        <p:nvSpPr>
          <p:cNvPr id="14" name="Google Shape;597;p33">
            <a:extLst>
              <a:ext uri="{FF2B5EF4-FFF2-40B4-BE49-F238E27FC236}">
                <a16:creationId xmlns:a16="http://schemas.microsoft.com/office/drawing/2014/main" id="{14EEEFF4-EC10-F62F-6C28-587E8B661ECF}"/>
              </a:ext>
            </a:extLst>
          </p:cNvPr>
          <p:cNvSpPr txBox="1">
            <a:spLocks/>
          </p:cNvSpPr>
          <p:nvPr/>
        </p:nvSpPr>
        <p:spPr>
          <a:xfrm>
            <a:off x="2558203" y="2750456"/>
            <a:ext cx="5695788" cy="802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Black"/>
              <a:buNone/>
              <a:defRPr sz="2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 defTabSz="1371600">
              <a:buClr>
                <a:srgbClr val="151F29"/>
              </a:buClr>
              <a:defRPr/>
            </a:pPr>
            <a:r>
              <a:rPr lang="en-IN" sz="3600" b="1" kern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FDF3F9-E5D4-2BDF-1ED3-4696BB80CC3D}"/>
              </a:ext>
            </a:extLst>
          </p:cNvPr>
          <p:cNvSpPr/>
          <p:nvPr/>
        </p:nvSpPr>
        <p:spPr>
          <a:xfrm>
            <a:off x="1090847" y="4291347"/>
            <a:ext cx="1110344" cy="1600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Google Shape;586;p33">
            <a:extLst>
              <a:ext uri="{FF2B5EF4-FFF2-40B4-BE49-F238E27FC236}">
                <a16:creationId xmlns:a16="http://schemas.microsoft.com/office/drawing/2014/main" id="{3BCF71D4-9E07-9CE6-688F-C2005BD3A23F}"/>
              </a:ext>
            </a:extLst>
          </p:cNvPr>
          <p:cNvSpPr txBox="1">
            <a:spLocks/>
          </p:cNvSpPr>
          <p:nvPr/>
        </p:nvSpPr>
        <p:spPr>
          <a:xfrm>
            <a:off x="10034009" y="2908808"/>
            <a:ext cx="1879718" cy="1740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 Black"/>
              <a:buNone/>
              <a:defRPr sz="4100" b="0" i="0" u="none" strike="noStrike" cap="none">
                <a:solidFill>
                  <a:schemeClr val="l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1371600">
              <a:buClr>
                <a:srgbClr val="151F29"/>
              </a:buClr>
              <a:defRPr/>
            </a:pPr>
            <a:r>
              <a:rPr lang="en" sz="7200" b="1" kern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47" name="Google Shape;590;p33">
            <a:extLst>
              <a:ext uri="{FF2B5EF4-FFF2-40B4-BE49-F238E27FC236}">
                <a16:creationId xmlns:a16="http://schemas.microsoft.com/office/drawing/2014/main" id="{E202BF1A-11D7-36EE-A018-77DE062D7423}"/>
              </a:ext>
            </a:extLst>
          </p:cNvPr>
          <p:cNvSpPr txBox="1">
            <a:spLocks/>
          </p:cNvSpPr>
          <p:nvPr/>
        </p:nvSpPr>
        <p:spPr>
          <a:xfrm>
            <a:off x="11620662" y="3645127"/>
            <a:ext cx="5695788" cy="1096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l" defTabSz="1371600">
              <a:buClr>
                <a:srgbClr val="151F29"/>
              </a:buClr>
              <a:buSzPts val="1100"/>
              <a:defRPr/>
            </a:pPr>
            <a:r>
              <a:rPr lang="en-US" sz="2400" kern="0" dirty="0">
                <a:latin typeface="Arial" panose="020B0604020202020204" pitchFamily="34" charset="0"/>
                <a:cs typeface="Arial" panose="020B0604020202020204" pitchFamily="34" charset="0"/>
              </a:rPr>
              <a:t>Identifying regional disparities in profitability across the business</a:t>
            </a:r>
          </a:p>
        </p:txBody>
      </p:sp>
      <p:sp>
        <p:nvSpPr>
          <p:cNvPr id="48" name="Google Shape;597;p33">
            <a:extLst>
              <a:ext uri="{FF2B5EF4-FFF2-40B4-BE49-F238E27FC236}">
                <a16:creationId xmlns:a16="http://schemas.microsoft.com/office/drawing/2014/main" id="{8447E1D9-530A-69FC-856C-1C097F5359D0}"/>
              </a:ext>
            </a:extLst>
          </p:cNvPr>
          <p:cNvSpPr txBox="1">
            <a:spLocks/>
          </p:cNvSpPr>
          <p:nvPr/>
        </p:nvSpPr>
        <p:spPr>
          <a:xfrm>
            <a:off x="11620662" y="2750456"/>
            <a:ext cx="5695788" cy="802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Black"/>
              <a:buNone/>
              <a:defRPr sz="2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 defTabSz="1371600">
              <a:buClr>
                <a:srgbClr val="151F29"/>
              </a:buClr>
              <a:defRPr/>
            </a:pPr>
            <a:r>
              <a:rPr lang="en-IN" sz="3600" b="1" kern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Regional Performance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29253EA-B62E-8868-4AB2-B914BAA550DA}"/>
              </a:ext>
            </a:extLst>
          </p:cNvPr>
          <p:cNvSpPr/>
          <p:nvPr/>
        </p:nvSpPr>
        <p:spPr>
          <a:xfrm>
            <a:off x="10153306" y="4291347"/>
            <a:ext cx="1110344" cy="1600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Google Shape;586;p33">
            <a:extLst>
              <a:ext uri="{FF2B5EF4-FFF2-40B4-BE49-F238E27FC236}">
                <a16:creationId xmlns:a16="http://schemas.microsoft.com/office/drawing/2014/main" id="{C586F5DA-BDC6-2276-D32F-AAD0A37A7E04}"/>
              </a:ext>
            </a:extLst>
          </p:cNvPr>
          <p:cNvSpPr txBox="1">
            <a:spLocks/>
          </p:cNvSpPr>
          <p:nvPr/>
        </p:nvSpPr>
        <p:spPr>
          <a:xfrm>
            <a:off x="971550" y="5696143"/>
            <a:ext cx="1879718" cy="1740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 Black"/>
              <a:buNone/>
              <a:defRPr sz="4100" b="0" i="0" u="none" strike="noStrike" cap="none">
                <a:solidFill>
                  <a:schemeClr val="l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1371600">
              <a:buClr>
                <a:srgbClr val="151F29"/>
              </a:buClr>
              <a:defRPr/>
            </a:pPr>
            <a:r>
              <a:rPr lang="en" sz="7200" b="1" kern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57" name="Google Shape;590;p33">
            <a:extLst>
              <a:ext uri="{FF2B5EF4-FFF2-40B4-BE49-F238E27FC236}">
                <a16:creationId xmlns:a16="http://schemas.microsoft.com/office/drawing/2014/main" id="{91901571-59C1-ECB1-A633-D4D303B9AA4B}"/>
              </a:ext>
            </a:extLst>
          </p:cNvPr>
          <p:cNvSpPr txBox="1">
            <a:spLocks/>
          </p:cNvSpPr>
          <p:nvPr/>
        </p:nvSpPr>
        <p:spPr>
          <a:xfrm>
            <a:off x="2558203" y="7078682"/>
            <a:ext cx="5695788" cy="1246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l" defTabSz="1371600">
              <a:buClr>
                <a:srgbClr val="151F29"/>
              </a:buClr>
              <a:buSzPts val="1100"/>
              <a:defRPr/>
            </a:pPr>
            <a:r>
              <a:rPr lang="en-US" sz="2400" kern="0" dirty="0">
                <a:latin typeface="Arial" panose="020B0604020202020204" pitchFamily="34" charset="0"/>
                <a:cs typeface="Arial" panose="020B0604020202020204" pitchFamily="34" charset="0"/>
              </a:rPr>
              <a:t>Analyzing whether high-revenue states in low-performing regions are contributing to profitability</a:t>
            </a:r>
          </a:p>
        </p:txBody>
      </p:sp>
      <p:sp>
        <p:nvSpPr>
          <p:cNvPr id="58" name="Google Shape;597;p33">
            <a:extLst>
              <a:ext uri="{FF2B5EF4-FFF2-40B4-BE49-F238E27FC236}">
                <a16:creationId xmlns:a16="http://schemas.microsoft.com/office/drawing/2014/main" id="{4132B0DA-8F08-EB01-4BD0-0F13440A9F82}"/>
              </a:ext>
            </a:extLst>
          </p:cNvPr>
          <p:cNvSpPr txBox="1">
            <a:spLocks/>
          </p:cNvSpPr>
          <p:nvPr/>
        </p:nvSpPr>
        <p:spPr>
          <a:xfrm>
            <a:off x="2558202" y="5537791"/>
            <a:ext cx="5976198" cy="802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Black"/>
              <a:buNone/>
              <a:defRPr sz="2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 defTabSz="1371600">
              <a:buClr>
                <a:srgbClr val="151F29"/>
              </a:buClr>
              <a:defRPr/>
            </a:pPr>
            <a:r>
              <a:rPr lang="en-US" sz="3600" b="1" kern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High-Revenue States in Underperforming Regions</a:t>
            </a:r>
            <a:endParaRPr lang="en-IN" sz="3600" b="1" kern="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FA68666-A48E-852B-7212-ED2A32265A53}"/>
              </a:ext>
            </a:extLst>
          </p:cNvPr>
          <p:cNvSpPr/>
          <p:nvPr/>
        </p:nvSpPr>
        <p:spPr>
          <a:xfrm>
            <a:off x="1090847" y="7078682"/>
            <a:ext cx="1110344" cy="1600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Google Shape;586;p33">
            <a:extLst>
              <a:ext uri="{FF2B5EF4-FFF2-40B4-BE49-F238E27FC236}">
                <a16:creationId xmlns:a16="http://schemas.microsoft.com/office/drawing/2014/main" id="{4E0B4A9D-7B79-28AA-5C41-90F76043668F}"/>
              </a:ext>
            </a:extLst>
          </p:cNvPr>
          <p:cNvSpPr txBox="1">
            <a:spLocks/>
          </p:cNvSpPr>
          <p:nvPr/>
        </p:nvSpPr>
        <p:spPr>
          <a:xfrm>
            <a:off x="10034009" y="5696143"/>
            <a:ext cx="1879718" cy="1740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 Black"/>
              <a:buNone/>
              <a:defRPr sz="4100" b="0" i="0" u="none" strike="noStrike" cap="none">
                <a:solidFill>
                  <a:schemeClr val="l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1371600">
              <a:buClr>
                <a:srgbClr val="151F29"/>
              </a:buClr>
              <a:defRPr/>
            </a:pPr>
            <a:r>
              <a:rPr lang="en" sz="7200" b="1" kern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62" name="Google Shape;590;p33">
            <a:extLst>
              <a:ext uri="{FF2B5EF4-FFF2-40B4-BE49-F238E27FC236}">
                <a16:creationId xmlns:a16="http://schemas.microsoft.com/office/drawing/2014/main" id="{CE74B220-35D9-3205-E67D-BCCA2B9AF9F4}"/>
              </a:ext>
            </a:extLst>
          </p:cNvPr>
          <p:cNvSpPr txBox="1">
            <a:spLocks/>
          </p:cNvSpPr>
          <p:nvPr/>
        </p:nvSpPr>
        <p:spPr>
          <a:xfrm>
            <a:off x="11620662" y="7078682"/>
            <a:ext cx="5695788" cy="1096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l" defTabSz="1371600">
              <a:buClr>
                <a:srgbClr val="151F29"/>
              </a:buClr>
              <a:buSzPts val="1100"/>
              <a:defRPr/>
            </a:pPr>
            <a:r>
              <a:rPr lang="en-US" sz="2400" kern="0" dirty="0">
                <a:latin typeface="Arial" panose="020B0604020202020204" pitchFamily="34" charset="0"/>
                <a:cs typeface="Arial" panose="020B0604020202020204" pitchFamily="34" charset="0"/>
              </a:rPr>
              <a:t>Assessing whether profitability varies across customer segments</a:t>
            </a:r>
          </a:p>
        </p:txBody>
      </p:sp>
      <p:sp>
        <p:nvSpPr>
          <p:cNvPr id="63" name="Google Shape;597;p33">
            <a:extLst>
              <a:ext uri="{FF2B5EF4-FFF2-40B4-BE49-F238E27FC236}">
                <a16:creationId xmlns:a16="http://schemas.microsoft.com/office/drawing/2014/main" id="{05A8CA8C-100C-B735-75D4-E4B8410FFD42}"/>
              </a:ext>
            </a:extLst>
          </p:cNvPr>
          <p:cNvSpPr txBox="1">
            <a:spLocks/>
          </p:cNvSpPr>
          <p:nvPr/>
        </p:nvSpPr>
        <p:spPr>
          <a:xfrm>
            <a:off x="11620662" y="5537791"/>
            <a:ext cx="4533738" cy="1266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Black"/>
              <a:buNone/>
              <a:defRPr sz="2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 defTabSz="1371600">
              <a:buClr>
                <a:srgbClr val="151F29"/>
              </a:buClr>
              <a:defRPr/>
            </a:pPr>
            <a:r>
              <a:rPr lang="en-IN" sz="3600" b="1" kern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 Segment Analysis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FCBA72A-8A24-D0B5-499A-D67237C1CFFE}"/>
              </a:ext>
            </a:extLst>
          </p:cNvPr>
          <p:cNvSpPr/>
          <p:nvPr/>
        </p:nvSpPr>
        <p:spPr>
          <a:xfrm>
            <a:off x="10153306" y="7078682"/>
            <a:ext cx="1110344" cy="1600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613F9B-752A-1156-C321-1023B43D9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680B1-7F17-42D2-83E2-2C9AC13983B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3835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648BA-7BDF-E7CE-7708-39857F0A8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5" y="317500"/>
            <a:ext cx="16859250" cy="1266827"/>
          </a:xfrm>
        </p:spPr>
        <p:txBody>
          <a:bodyPr anchor="ctr"/>
          <a:lstStyle/>
          <a:p>
            <a:r>
              <a:rPr lang="en-US" dirty="0"/>
              <a:t>Table of Contents</a:t>
            </a:r>
            <a:endParaRPr lang="en-IN" dirty="0"/>
          </a:p>
        </p:txBody>
      </p:sp>
      <p:sp>
        <p:nvSpPr>
          <p:cNvPr id="4" name="Google Shape;586;p33">
            <a:extLst>
              <a:ext uri="{FF2B5EF4-FFF2-40B4-BE49-F238E27FC236}">
                <a16:creationId xmlns:a16="http://schemas.microsoft.com/office/drawing/2014/main" id="{713D6B84-9102-0C82-88FE-7F5025201616}"/>
              </a:ext>
            </a:extLst>
          </p:cNvPr>
          <p:cNvSpPr txBox="1">
            <a:spLocks/>
          </p:cNvSpPr>
          <p:nvPr/>
        </p:nvSpPr>
        <p:spPr>
          <a:xfrm>
            <a:off x="971550" y="2908808"/>
            <a:ext cx="1879718" cy="1740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 Black"/>
              <a:buNone/>
              <a:defRPr sz="4100" b="0" i="0" u="none" strike="noStrike" cap="none">
                <a:solidFill>
                  <a:schemeClr val="l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1371600">
              <a:buClr>
                <a:srgbClr val="151F29"/>
              </a:buClr>
              <a:defRPr/>
            </a:pPr>
            <a:r>
              <a:rPr lang="en" sz="7200" b="1" kern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</a:p>
        </p:txBody>
      </p:sp>
      <p:sp>
        <p:nvSpPr>
          <p:cNvPr id="8" name="Google Shape;590;p33">
            <a:extLst>
              <a:ext uri="{FF2B5EF4-FFF2-40B4-BE49-F238E27FC236}">
                <a16:creationId xmlns:a16="http://schemas.microsoft.com/office/drawing/2014/main" id="{21A552EE-6332-00AF-488C-32DB3C3772C7}"/>
              </a:ext>
            </a:extLst>
          </p:cNvPr>
          <p:cNvSpPr txBox="1">
            <a:spLocks/>
          </p:cNvSpPr>
          <p:nvPr/>
        </p:nvSpPr>
        <p:spPr>
          <a:xfrm>
            <a:off x="2533812" y="3950750"/>
            <a:ext cx="5695788" cy="1096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l" defTabSz="1371600">
              <a:buClr>
                <a:srgbClr val="151F29"/>
              </a:buClr>
              <a:buSzPts val="1100"/>
              <a:defRPr/>
            </a:pPr>
            <a:r>
              <a:rPr lang="en-US" sz="2400" kern="0" dirty="0">
                <a:latin typeface="Arial" panose="020B0604020202020204" pitchFamily="34" charset="0"/>
                <a:cs typeface="Arial" panose="020B0604020202020204" pitchFamily="34" charset="0"/>
              </a:rPr>
              <a:t>Assessing profitability differences across main product categories</a:t>
            </a:r>
          </a:p>
        </p:txBody>
      </p:sp>
      <p:sp>
        <p:nvSpPr>
          <p:cNvPr id="14" name="Google Shape;597;p33">
            <a:extLst>
              <a:ext uri="{FF2B5EF4-FFF2-40B4-BE49-F238E27FC236}">
                <a16:creationId xmlns:a16="http://schemas.microsoft.com/office/drawing/2014/main" id="{14EEEFF4-EC10-F62F-6C28-587E8B661ECF}"/>
              </a:ext>
            </a:extLst>
          </p:cNvPr>
          <p:cNvSpPr txBox="1">
            <a:spLocks/>
          </p:cNvSpPr>
          <p:nvPr/>
        </p:nvSpPr>
        <p:spPr>
          <a:xfrm>
            <a:off x="2558202" y="2750456"/>
            <a:ext cx="6280998" cy="1200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Black"/>
              <a:buNone/>
              <a:defRPr sz="2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 defTabSz="1371600">
              <a:buClr>
                <a:srgbClr val="151F29"/>
              </a:buClr>
              <a:defRPr/>
            </a:pPr>
            <a:r>
              <a:rPr lang="en-IN" sz="3600" b="1" kern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Category-Level </a:t>
            </a:r>
          </a:p>
          <a:p>
            <a:pPr algn="l" defTabSz="1371600">
              <a:buClr>
                <a:srgbClr val="151F29"/>
              </a:buClr>
              <a:defRPr/>
            </a:pPr>
            <a:r>
              <a:rPr lang="en-IN" sz="3600" b="1" kern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Profitability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FDF3F9-E5D4-2BDF-1ED3-4696BB80CC3D}"/>
              </a:ext>
            </a:extLst>
          </p:cNvPr>
          <p:cNvSpPr/>
          <p:nvPr/>
        </p:nvSpPr>
        <p:spPr>
          <a:xfrm>
            <a:off x="1090847" y="4291347"/>
            <a:ext cx="1110344" cy="1600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Google Shape;586;p33">
            <a:extLst>
              <a:ext uri="{FF2B5EF4-FFF2-40B4-BE49-F238E27FC236}">
                <a16:creationId xmlns:a16="http://schemas.microsoft.com/office/drawing/2014/main" id="{3BCF71D4-9E07-9CE6-688F-C2005BD3A23F}"/>
              </a:ext>
            </a:extLst>
          </p:cNvPr>
          <p:cNvSpPr txBox="1">
            <a:spLocks/>
          </p:cNvSpPr>
          <p:nvPr/>
        </p:nvSpPr>
        <p:spPr>
          <a:xfrm>
            <a:off x="10034009" y="2908808"/>
            <a:ext cx="1879718" cy="1740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 Black"/>
              <a:buNone/>
              <a:defRPr sz="4100" b="0" i="0" u="none" strike="noStrike" cap="none">
                <a:solidFill>
                  <a:schemeClr val="l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1371600">
              <a:buClr>
                <a:srgbClr val="151F29"/>
              </a:buClr>
              <a:defRPr/>
            </a:pPr>
            <a:r>
              <a:rPr lang="en" sz="7200" b="1" kern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06</a:t>
            </a:r>
          </a:p>
        </p:txBody>
      </p:sp>
      <p:sp>
        <p:nvSpPr>
          <p:cNvPr id="47" name="Google Shape;590;p33">
            <a:extLst>
              <a:ext uri="{FF2B5EF4-FFF2-40B4-BE49-F238E27FC236}">
                <a16:creationId xmlns:a16="http://schemas.microsoft.com/office/drawing/2014/main" id="{E202BF1A-11D7-36EE-A018-77DE062D7423}"/>
              </a:ext>
            </a:extLst>
          </p:cNvPr>
          <p:cNvSpPr txBox="1">
            <a:spLocks/>
          </p:cNvSpPr>
          <p:nvPr/>
        </p:nvSpPr>
        <p:spPr>
          <a:xfrm>
            <a:off x="11620662" y="3950750"/>
            <a:ext cx="5695788" cy="1096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l" defTabSz="1371600">
              <a:buClr>
                <a:srgbClr val="151F29"/>
              </a:buClr>
              <a:buSzPts val="1100"/>
              <a:defRPr/>
            </a:pPr>
            <a:r>
              <a:rPr lang="en-US" sz="2400" kern="0" dirty="0">
                <a:latin typeface="Arial" panose="020B0604020202020204" pitchFamily="34" charset="0"/>
                <a:cs typeface="Arial" panose="020B0604020202020204" pitchFamily="34" charset="0"/>
              </a:rPr>
              <a:t>Identifying specific sub-categories driving profitability issues</a:t>
            </a:r>
          </a:p>
        </p:txBody>
      </p:sp>
      <p:sp>
        <p:nvSpPr>
          <p:cNvPr id="48" name="Google Shape;597;p33">
            <a:extLst>
              <a:ext uri="{FF2B5EF4-FFF2-40B4-BE49-F238E27FC236}">
                <a16:creationId xmlns:a16="http://schemas.microsoft.com/office/drawing/2014/main" id="{8447E1D9-530A-69FC-856C-1C097F5359D0}"/>
              </a:ext>
            </a:extLst>
          </p:cNvPr>
          <p:cNvSpPr txBox="1">
            <a:spLocks/>
          </p:cNvSpPr>
          <p:nvPr/>
        </p:nvSpPr>
        <p:spPr>
          <a:xfrm>
            <a:off x="11620662" y="2750455"/>
            <a:ext cx="5695788" cy="1266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Black"/>
              <a:buNone/>
              <a:defRPr sz="2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 defTabSz="1371600">
              <a:buClr>
                <a:srgbClr val="151F29"/>
              </a:buClr>
              <a:defRPr/>
            </a:pPr>
            <a:r>
              <a:rPr lang="en-IN" sz="3600" b="1" kern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Sub-Category Profitability Breakdown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29253EA-B62E-8868-4AB2-B914BAA550DA}"/>
              </a:ext>
            </a:extLst>
          </p:cNvPr>
          <p:cNvSpPr/>
          <p:nvPr/>
        </p:nvSpPr>
        <p:spPr>
          <a:xfrm>
            <a:off x="10153306" y="4291347"/>
            <a:ext cx="1110344" cy="1600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Google Shape;586;p33">
            <a:extLst>
              <a:ext uri="{FF2B5EF4-FFF2-40B4-BE49-F238E27FC236}">
                <a16:creationId xmlns:a16="http://schemas.microsoft.com/office/drawing/2014/main" id="{C586F5DA-BDC6-2276-D32F-AAD0A37A7E04}"/>
              </a:ext>
            </a:extLst>
          </p:cNvPr>
          <p:cNvSpPr txBox="1">
            <a:spLocks/>
          </p:cNvSpPr>
          <p:nvPr/>
        </p:nvSpPr>
        <p:spPr>
          <a:xfrm>
            <a:off x="971550" y="5696143"/>
            <a:ext cx="1879718" cy="1740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 Black"/>
              <a:buNone/>
              <a:defRPr sz="4100" b="0" i="0" u="none" strike="noStrike" cap="none">
                <a:solidFill>
                  <a:schemeClr val="l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1371600">
              <a:buClr>
                <a:srgbClr val="151F29"/>
              </a:buClr>
              <a:defRPr/>
            </a:pPr>
            <a:r>
              <a:rPr lang="en" sz="7200" b="1" kern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07</a:t>
            </a:r>
          </a:p>
        </p:txBody>
      </p:sp>
      <p:sp>
        <p:nvSpPr>
          <p:cNvPr id="57" name="Google Shape;590;p33">
            <a:extLst>
              <a:ext uri="{FF2B5EF4-FFF2-40B4-BE49-F238E27FC236}">
                <a16:creationId xmlns:a16="http://schemas.microsoft.com/office/drawing/2014/main" id="{91901571-59C1-ECB1-A633-D4D303B9AA4B}"/>
              </a:ext>
            </a:extLst>
          </p:cNvPr>
          <p:cNvSpPr txBox="1">
            <a:spLocks/>
          </p:cNvSpPr>
          <p:nvPr/>
        </p:nvSpPr>
        <p:spPr>
          <a:xfrm>
            <a:off x="2558204" y="6740309"/>
            <a:ext cx="5695788" cy="1096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l" defTabSz="1371600">
              <a:buClr>
                <a:srgbClr val="151F29"/>
              </a:buClr>
              <a:buSzPts val="1100"/>
              <a:defRPr/>
            </a:pPr>
            <a:r>
              <a:rPr lang="en-US" sz="2400" kern="0" dirty="0">
                <a:latin typeface="Arial" panose="020B0604020202020204" pitchFamily="34" charset="0"/>
                <a:cs typeface="Arial" panose="020B0604020202020204" pitchFamily="34" charset="0"/>
              </a:rPr>
              <a:t>Evaluating how different discount levels affect overall profitability</a:t>
            </a:r>
          </a:p>
        </p:txBody>
      </p:sp>
      <p:sp>
        <p:nvSpPr>
          <p:cNvPr id="58" name="Google Shape;597;p33">
            <a:extLst>
              <a:ext uri="{FF2B5EF4-FFF2-40B4-BE49-F238E27FC236}">
                <a16:creationId xmlns:a16="http://schemas.microsoft.com/office/drawing/2014/main" id="{4132B0DA-8F08-EB01-4BD0-0F13440A9F82}"/>
              </a:ext>
            </a:extLst>
          </p:cNvPr>
          <p:cNvSpPr txBox="1">
            <a:spLocks/>
          </p:cNvSpPr>
          <p:nvPr/>
        </p:nvSpPr>
        <p:spPr>
          <a:xfrm>
            <a:off x="2558202" y="5537791"/>
            <a:ext cx="7195398" cy="1266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Black"/>
              <a:buNone/>
              <a:defRPr sz="2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 defTabSz="1371600">
              <a:buClr>
                <a:srgbClr val="151F29"/>
              </a:buClr>
              <a:defRPr/>
            </a:pPr>
            <a:r>
              <a:rPr lang="en-IN" sz="3600" b="1" kern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Discount Impact </a:t>
            </a:r>
          </a:p>
          <a:p>
            <a:pPr algn="l" defTabSz="1371600">
              <a:buClr>
                <a:srgbClr val="151F29"/>
              </a:buClr>
              <a:defRPr/>
            </a:pPr>
            <a:r>
              <a:rPr lang="en-IN" sz="3600" b="1" kern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 Profitability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FA68666-A48E-852B-7212-ED2A32265A53}"/>
              </a:ext>
            </a:extLst>
          </p:cNvPr>
          <p:cNvSpPr/>
          <p:nvPr/>
        </p:nvSpPr>
        <p:spPr>
          <a:xfrm>
            <a:off x="1090847" y="7078682"/>
            <a:ext cx="1110344" cy="1600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Google Shape;586;p33">
            <a:extLst>
              <a:ext uri="{FF2B5EF4-FFF2-40B4-BE49-F238E27FC236}">
                <a16:creationId xmlns:a16="http://schemas.microsoft.com/office/drawing/2014/main" id="{4E0B4A9D-7B79-28AA-5C41-90F76043668F}"/>
              </a:ext>
            </a:extLst>
          </p:cNvPr>
          <p:cNvSpPr txBox="1">
            <a:spLocks/>
          </p:cNvSpPr>
          <p:nvPr/>
        </p:nvSpPr>
        <p:spPr>
          <a:xfrm>
            <a:off x="10034009" y="5696143"/>
            <a:ext cx="1879718" cy="1740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 Black"/>
              <a:buNone/>
              <a:defRPr sz="4100" b="0" i="0" u="none" strike="noStrike" cap="none">
                <a:solidFill>
                  <a:schemeClr val="l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1371600">
              <a:buClr>
                <a:srgbClr val="151F29"/>
              </a:buClr>
              <a:defRPr/>
            </a:pPr>
            <a:r>
              <a:rPr lang="en" sz="7200" b="1" kern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08</a:t>
            </a:r>
          </a:p>
        </p:txBody>
      </p:sp>
      <p:sp>
        <p:nvSpPr>
          <p:cNvPr id="62" name="Google Shape;590;p33">
            <a:extLst>
              <a:ext uri="{FF2B5EF4-FFF2-40B4-BE49-F238E27FC236}">
                <a16:creationId xmlns:a16="http://schemas.microsoft.com/office/drawing/2014/main" id="{CE74B220-35D9-3205-E67D-BCCA2B9AF9F4}"/>
              </a:ext>
            </a:extLst>
          </p:cNvPr>
          <p:cNvSpPr txBox="1">
            <a:spLocks/>
          </p:cNvSpPr>
          <p:nvPr/>
        </p:nvSpPr>
        <p:spPr>
          <a:xfrm>
            <a:off x="11620662" y="6803476"/>
            <a:ext cx="5695788" cy="1266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l" defTabSz="1371600">
              <a:buClr>
                <a:srgbClr val="151F29"/>
              </a:buClr>
              <a:buSzPts val="1100"/>
              <a:defRPr/>
            </a:pPr>
            <a:r>
              <a:rPr lang="en-US" sz="2400" kern="0" dirty="0">
                <a:latin typeface="Arial" panose="020B0604020202020204" pitchFamily="34" charset="0"/>
                <a:cs typeface="Arial" panose="020B0604020202020204" pitchFamily="34" charset="0"/>
              </a:rPr>
              <a:t>Analyzing how discount levels are applied across different product </a:t>
            </a:r>
          </a:p>
          <a:p>
            <a:pPr algn="l" defTabSz="1371600">
              <a:buClr>
                <a:srgbClr val="151F29"/>
              </a:buClr>
              <a:buSzPts val="1100"/>
              <a:defRPr/>
            </a:pPr>
            <a:r>
              <a:rPr lang="en-US" sz="2400" kern="0" dirty="0">
                <a:latin typeface="Arial" panose="020B0604020202020204" pitchFamily="34" charset="0"/>
                <a:cs typeface="Arial" panose="020B0604020202020204" pitchFamily="34" charset="0"/>
              </a:rPr>
              <a:t>sub-categories</a:t>
            </a:r>
          </a:p>
        </p:txBody>
      </p:sp>
      <p:sp>
        <p:nvSpPr>
          <p:cNvPr id="63" name="Google Shape;597;p33">
            <a:extLst>
              <a:ext uri="{FF2B5EF4-FFF2-40B4-BE49-F238E27FC236}">
                <a16:creationId xmlns:a16="http://schemas.microsoft.com/office/drawing/2014/main" id="{05A8CA8C-100C-B735-75D4-E4B8410FFD42}"/>
              </a:ext>
            </a:extLst>
          </p:cNvPr>
          <p:cNvSpPr txBox="1">
            <a:spLocks/>
          </p:cNvSpPr>
          <p:nvPr/>
        </p:nvSpPr>
        <p:spPr>
          <a:xfrm>
            <a:off x="11620662" y="5537790"/>
            <a:ext cx="5695788" cy="1266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Black"/>
              <a:buNone/>
              <a:defRPr sz="2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 defTabSz="1371600">
              <a:buClr>
                <a:srgbClr val="151F29"/>
              </a:buClr>
              <a:defRPr/>
            </a:pPr>
            <a:r>
              <a:rPr lang="en-IN" sz="3600" b="1" kern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Discount Usage by </a:t>
            </a:r>
          </a:p>
          <a:p>
            <a:pPr algn="l" defTabSz="1371600">
              <a:buClr>
                <a:srgbClr val="151F29"/>
              </a:buClr>
              <a:defRPr/>
            </a:pPr>
            <a:r>
              <a:rPr lang="en-IN" sz="3600" b="1" kern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Sub-Category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FCBA72A-8A24-D0B5-499A-D67237C1CFFE}"/>
              </a:ext>
            </a:extLst>
          </p:cNvPr>
          <p:cNvSpPr/>
          <p:nvPr/>
        </p:nvSpPr>
        <p:spPr>
          <a:xfrm>
            <a:off x="10153306" y="7078682"/>
            <a:ext cx="1110344" cy="1600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613F9B-752A-1156-C321-1023B43D9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680B1-7F17-42D2-83E2-2C9AC13983B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317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648BA-7BDF-E7CE-7708-39857F0A8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5" y="317500"/>
            <a:ext cx="16859250" cy="1266827"/>
          </a:xfrm>
        </p:spPr>
        <p:txBody>
          <a:bodyPr anchor="ctr"/>
          <a:lstStyle/>
          <a:p>
            <a:r>
              <a:rPr lang="en-US" dirty="0"/>
              <a:t>Table of Contents</a:t>
            </a:r>
            <a:endParaRPr lang="en-IN" dirty="0"/>
          </a:p>
        </p:txBody>
      </p:sp>
      <p:sp>
        <p:nvSpPr>
          <p:cNvPr id="4" name="Google Shape;586;p33">
            <a:extLst>
              <a:ext uri="{FF2B5EF4-FFF2-40B4-BE49-F238E27FC236}">
                <a16:creationId xmlns:a16="http://schemas.microsoft.com/office/drawing/2014/main" id="{713D6B84-9102-0C82-88FE-7F5025201616}"/>
              </a:ext>
            </a:extLst>
          </p:cNvPr>
          <p:cNvSpPr txBox="1">
            <a:spLocks/>
          </p:cNvSpPr>
          <p:nvPr/>
        </p:nvSpPr>
        <p:spPr>
          <a:xfrm>
            <a:off x="971550" y="2908808"/>
            <a:ext cx="1879718" cy="1740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 Black"/>
              <a:buNone/>
              <a:defRPr sz="4100" b="0" i="0" u="none" strike="noStrike" cap="none">
                <a:solidFill>
                  <a:schemeClr val="l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1371600">
              <a:buClr>
                <a:srgbClr val="151F29"/>
              </a:buClr>
              <a:defRPr/>
            </a:pPr>
            <a:r>
              <a:rPr lang="en" sz="7200" b="1" kern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09</a:t>
            </a:r>
          </a:p>
        </p:txBody>
      </p:sp>
      <p:sp>
        <p:nvSpPr>
          <p:cNvPr id="8" name="Google Shape;590;p33">
            <a:extLst>
              <a:ext uri="{FF2B5EF4-FFF2-40B4-BE49-F238E27FC236}">
                <a16:creationId xmlns:a16="http://schemas.microsoft.com/office/drawing/2014/main" id="{21A552EE-6332-00AF-488C-32DB3C3772C7}"/>
              </a:ext>
            </a:extLst>
          </p:cNvPr>
          <p:cNvSpPr txBox="1">
            <a:spLocks/>
          </p:cNvSpPr>
          <p:nvPr/>
        </p:nvSpPr>
        <p:spPr>
          <a:xfrm>
            <a:off x="2533812" y="4113038"/>
            <a:ext cx="5924388" cy="122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l" defTabSz="1371600">
              <a:buClr>
                <a:srgbClr val="151F29"/>
              </a:buClr>
              <a:buSzPts val="1100"/>
              <a:defRPr/>
            </a:pPr>
            <a:r>
              <a:rPr lang="en-US" sz="2400" kern="0" dirty="0">
                <a:latin typeface="Arial" panose="020B0604020202020204" pitchFamily="34" charset="0"/>
                <a:cs typeface="Arial" panose="020B0604020202020204" pitchFamily="34" charset="0"/>
              </a:rPr>
              <a:t>Assessing how discount strategies impact sales in the worst-performing states</a:t>
            </a:r>
          </a:p>
        </p:txBody>
      </p:sp>
      <p:sp>
        <p:nvSpPr>
          <p:cNvPr id="14" name="Google Shape;597;p33">
            <a:extLst>
              <a:ext uri="{FF2B5EF4-FFF2-40B4-BE49-F238E27FC236}">
                <a16:creationId xmlns:a16="http://schemas.microsoft.com/office/drawing/2014/main" id="{14EEEFF4-EC10-F62F-6C28-587E8B661ECF}"/>
              </a:ext>
            </a:extLst>
          </p:cNvPr>
          <p:cNvSpPr txBox="1">
            <a:spLocks/>
          </p:cNvSpPr>
          <p:nvPr/>
        </p:nvSpPr>
        <p:spPr>
          <a:xfrm>
            <a:off x="2558202" y="2750456"/>
            <a:ext cx="6280998" cy="1266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Black"/>
              <a:buNone/>
              <a:defRPr sz="2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 defTabSz="1371600">
              <a:buClr>
                <a:srgbClr val="151F29"/>
              </a:buClr>
              <a:defRPr/>
            </a:pPr>
            <a:r>
              <a:rPr lang="en-US" sz="3600" b="1" kern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Discount Dependency in Loss-Making States</a:t>
            </a:r>
            <a:endParaRPr lang="en-IN" sz="3600" b="1" kern="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FDF3F9-E5D4-2BDF-1ED3-4696BB80CC3D}"/>
              </a:ext>
            </a:extLst>
          </p:cNvPr>
          <p:cNvSpPr/>
          <p:nvPr/>
        </p:nvSpPr>
        <p:spPr>
          <a:xfrm>
            <a:off x="1090847" y="4291347"/>
            <a:ext cx="1110344" cy="1600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Google Shape;586;p33">
            <a:extLst>
              <a:ext uri="{FF2B5EF4-FFF2-40B4-BE49-F238E27FC236}">
                <a16:creationId xmlns:a16="http://schemas.microsoft.com/office/drawing/2014/main" id="{3BCF71D4-9E07-9CE6-688F-C2005BD3A23F}"/>
              </a:ext>
            </a:extLst>
          </p:cNvPr>
          <p:cNvSpPr txBox="1">
            <a:spLocks/>
          </p:cNvSpPr>
          <p:nvPr/>
        </p:nvSpPr>
        <p:spPr>
          <a:xfrm>
            <a:off x="10034009" y="2908808"/>
            <a:ext cx="1879718" cy="1740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 Black"/>
              <a:buNone/>
              <a:defRPr sz="4100" b="0" i="0" u="none" strike="noStrike" cap="none">
                <a:solidFill>
                  <a:schemeClr val="l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1371600">
              <a:buClr>
                <a:srgbClr val="151F29"/>
              </a:buClr>
              <a:defRPr/>
            </a:pPr>
            <a:r>
              <a:rPr lang="en" sz="7200" b="1" kern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</a:p>
        </p:txBody>
      </p:sp>
      <p:sp>
        <p:nvSpPr>
          <p:cNvPr id="47" name="Google Shape;590;p33">
            <a:extLst>
              <a:ext uri="{FF2B5EF4-FFF2-40B4-BE49-F238E27FC236}">
                <a16:creationId xmlns:a16="http://schemas.microsoft.com/office/drawing/2014/main" id="{E202BF1A-11D7-36EE-A018-77DE062D7423}"/>
              </a:ext>
            </a:extLst>
          </p:cNvPr>
          <p:cNvSpPr txBox="1">
            <a:spLocks/>
          </p:cNvSpPr>
          <p:nvPr/>
        </p:nvSpPr>
        <p:spPr>
          <a:xfrm>
            <a:off x="11596271" y="4071230"/>
            <a:ext cx="5695788" cy="1266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l" defTabSz="1371600">
              <a:buClr>
                <a:srgbClr val="151F29"/>
              </a:buClr>
              <a:buSzPts val="1100"/>
              <a:defRPr/>
            </a:pPr>
            <a:r>
              <a:rPr lang="en-US" sz="2400" kern="0" dirty="0">
                <a:latin typeface="Arial" panose="020B0604020202020204" pitchFamily="34" charset="0"/>
                <a:cs typeface="Arial" panose="020B0604020202020204" pitchFamily="34" charset="0"/>
              </a:rPr>
              <a:t>Key insights and actionable recommendations to improve profitability</a:t>
            </a:r>
          </a:p>
        </p:txBody>
      </p:sp>
      <p:sp>
        <p:nvSpPr>
          <p:cNvPr id="48" name="Google Shape;597;p33">
            <a:extLst>
              <a:ext uri="{FF2B5EF4-FFF2-40B4-BE49-F238E27FC236}">
                <a16:creationId xmlns:a16="http://schemas.microsoft.com/office/drawing/2014/main" id="{8447E1D9-530A-69FC-856C-1C097F5359D0}"/>
              </a:ext>
            </a:extLst>
          </p:cNvPr>
          <p:cNvSpPr txBox="1">
            <a:spLocks/>
          </p:cNvSpPr>
          <p:nvPr/>
        </p:nvSpPr>
        <p:spPr>
          <a:xfrm>
            <a:off x="11620662" y="2750455"/>
            <a:ext cx="5695788" cy="1266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Black"/>
              <a:buNone/>
              <a:defRPr sz="2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 defTabSz="1371600">
              <a:buClr>
                <a:srgbClr val="151F29"/>
              </a:buClr>
              <a:defRPr/>
            </a:pPr>
            <a:r>
              <a:rPr lang="en-IN" sz="3600" b="1" kern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Conclusions &amp; Business Recommendations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29253EA-B62E-8868-4AB2-B914BAA550DA}"/>
              </a:ext>
            </a:extLst>
          </p:cNvPr>
          <p:cNvSpPr/>
          <p:nvPr/>
        </p:nvSpPr>
        <p:spPr>
          <a:xfrm>
            <a:off x="10153306" y="4291347"/>
            <a:ext cx="1110344" cy="1600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613F9B-752A-1156-C321-1023B43D9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680B1-7F17-42D2-83E2-2C9AC13983B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214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44562AB-E8AA-6BF5-5824-9EFD037E1AE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92081" y="4705350"/>
            <a:ext cx="5303838" cy="876300"/>
          </a:xfrm>
        </p:spPr>
        <p:txBody>
          <a:bodyPr/>
          <a:lstStyle/>
          <a:p>
            <a:pPr algn="l" defTabSz="1371600">
              <a:buClr>
                <a:srgbClr val="151F29"/>
              </a:buClr>
              <a:defRPr/>
            </a:pPr>
            <a:r>
              <a:rPr lang="en-IN" sz="4400" b="1" kern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C1C961-8E9B-32A5-C9B3-64125AC5E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680B1-7F17-42D2-83E2-2C9AC13983B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766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718FA6F-4A48-CA80-EEE3-23989CE8E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5" y="317500"/>
            <a:ext cx="16859250" cy="1266825"/>
          </a:xfrm>
        </p:spPr>
        <p:txBody>
          <a:bodyPr/>
          <a:lstStyle/>
          <a:p>
            <a:pPr algn="l" defTabSz="1371600">
              <a:buClr>
                <a:srgbClr val="151F29"/>
              </a:buClr>
              <a:defRPr/>
            </a:pPr>
            <a:r>
              <a:rPr lang="en-IN" sz="4000" b="1" kern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C06BED-CFB2-B527-E495-ED937F6FEF97}"/>
              </a:ext>
            </a:extLst>
          </p:cNvPr>
          <p:cNvGrpSpPr/>
          <p:nvPr/>
        </p:nvGrpSpPr>
        <p:grpSpPr>
          <a:xfrm>
            <a:off x="708025" y="1998652"/>
            <a:ext cx="16871950" cy="4685898"/>
            <a:chOff x="712239" y="1998652"/>
            <a:chExt cx="16871950" cy="468589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67294A6-BD3A-3ED2-B98B-CCA18DB84E30}"/>
                </a:ext>
              </a:extLst>
            </p:cNvPr>
            <p:cNvSpPr txBox="1"/>
            <p:nvPr/>
          </p:nvSpPr>
          <p:spPr>
            <a:xfrm>
              <a:off x="718589" y="1998652"/>
              <a:ext cx="1685925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0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analysis examines a retail business that is achieving strong sales performance, but where profitability appears to be underperforming.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F8B5524-3D18-4B08-A11D-412EFBC575A1}"/>
                </a:ext>
              </a:extLst>
            </p:cNvPr>
            <p:cNvSpPr txBox="1"/>
            <p:nvPr/>
          </p:nvSpPr>
          <p:spPr>
            <a:xfrm rot="10800000">
              <a:off x="16014926" y="1998652"/>
              <a:ext cx="1492025" cy="46858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2985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372018A-CF4D-AA61-E6CF-0C2FC5A9A264}"/>
                </a:ext>
              </a:extLst>
            </p:cNvPr>
            <p:cNvSpPr/>
            <p:nvPr/>
          </p:nvSpPr>
          <p:spPr>
            <a:xfrm>
              <a:off x="712239" y="4004008"/>
              <a:ext cx="16871950" cy="2278983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atin typeface="Arial" panose="020B0604020202020204" pitchFamily="34" charset="0"/>
                  <a:cs typeface="Arial" panose="020B0604020202020204" pitchFamily="34" charset="0"/>
                </a:rPr>
                <a:t>Why is the business generating strong sales but low profitability?</a:t>
              </a:r>
              <a:endParaRPr lang="en-GB" sz="4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3AF977-B567-35C0-C8D5-0E0873E4A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680B1-7F17-42D2-83E2-2C9AC13983B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462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5A5B7-347D-23EB-CE73-93ED44155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C039040-4891-1C99-1874-81A0D66280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49181" y="4781550"/>
            <a:ext cx="5989638" cy="723900"/>
          </a:xfrm>
        </p:spPr>
        <p:txBody>
          <a:bodyPr/>
          <a:lstStyle/>
          <a:p>
            <a:r>
              <a:rPr lang="en-US" dirty="0"/>
              <a:t>Regional Performance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B29B05-280F-7E31-E93B-D3D8E1B00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680B1-7F17-42D2-83E2-2C9AC13983B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925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CD205-00D9-17CE-5CEA-AD4DA5E27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B9DAEC2B-4514-CC4C-D59B-7FE6E89EF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5" y="317500"/>
            <a:ext cx="16859250" cy="1266827"/>
          </a:xfrm>
        </p:spPr>
        <p:txBody>
          <a:bodyPr/>
          <a:lstStyle/>
          <a:p>
            <a:r>
              <a:rPr lang="en-US" dirty="0"/>
              <a:t>Regional Performance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C1B829-0CA1-17D1-410E-A6E4B0481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680B1-7F17-42D2-83E2-2C9AC13983BB}" type="slidenum">
              <a:rPr lang="en-US" smtClean="0"/>
              <a:t>8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F7B3BF-9F9A-4981-AD9E-56A7FC194FF4}"/>
              </a:ext>
            </a:extLst>
          </p:cNvPr>
          <p:cNvSpPr txBox="1"/>
          <p:nvPr/>
        </p:nvSpPr>
        <p:spPr>
          <a:xfrm>
            <a:off x="714375" y="1912900"/>
            <a:ext cx="16858800" cy="430887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>
              <a:lnSpc>
                <a:spcPct val="100000"/>
              </a:lnSpc>
              <a:spcBef>
                <a:spcPct val="0"/>
              </a:spcBef>
              <a:buNone/>
              <a:defRPr sz="4000" b="1">
                <a:solidFill>
                  <a:schemeClr val="accent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2800" b="0" dirty="0"/>
              <a:t>Central and South regions show significantly lower profitability margin compared to the rest of them</a:t>
            </a:r>
            <a:endParaRPr lang="de-DE" sz="2800" b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F7ECEA-A970-FFC6-784B-0FABAE801DDE}"/>
              </a:ext>
            </a:extLst>
          </p:cNvPr>
          <p:cNvSpPr txBox="1"/>
          <p:nvPr/>
        </p:nvSpPr>
        <p:spPr>
          <a:xfrm>
            <a:off x="7600556" y="2672360"/>
            <a:ext cx="30864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Profit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Margin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Region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Content Placeholder 8" descr="A graph of blue rectangular bars with black text&#10;&#10;AI-generated content may be incorrect.">
            <a:extLst>
              <a:ext uri="{FF2B5EF4-FFF2-40B4-BE49-F238E27FC236}">
                <a16:creationId xmlns:a16="http://schemas.microsoft.com/office/drawing/2014/main" id="{5B827775-A9B8-4496-285C-DCA99BDED7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1124" y="3401043"/>
            <a:ext cx="10005301" cy="6179116"/>
          </a:xfrm>
        </p:spPr>
      </p:pic>
    </p:spTree>
    <p:extLst>
      <p:ext uri="{BB962C8B-B14F-4D97-AF65-F5344CB8AC3E}">
        <p14:creationId xmlns:p14="http://schemas.microsoft.com/office/powerpoint/2010/main" val="1286454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5A5B7-347D-23EB-CE73-93ED44155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C039040-4891-1C99-1874-81A0D66280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49180" y="4781550"/>
            <a:ext cx="7033419" cy="723900"/>
          </a:xfrm>
        </p:spPr>
        <p:txBody>
          <a:bodyPr/>
          <a:lstStyle/>
          <a:p>
            <a:r>
              <a:rPr lang="en-US" dirty="0"/>
              <a:t>High-Revenue States in Underperforming Regions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B29B05-280F-7E31-E93B-D3D8E1B00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680B1-7F17-42D2-83E2-2C9AC13983B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2610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68DB5-2F88-E3E8-1D1E-71427A819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BEB9E8E5-647F-5959-A2F3-A44D2D6DC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5" y="317500"/>
            <a:ext cx="16859250" cy="1266827"/>
          </a:xfrm>
        </p:spPr>
        <p:txBody>
          <a:bodyPr/>
          <a:lstStyle/>
          <a:p>
            <a:r>
              <a:rPr lang="en-US" dirty="0"/>
              <a:t>High-Revenue States in Underperforming Regions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28CACE-388D-3AA0-67B9-64CBF5772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680B1-7F17-42D2-83E2-2C9AC13983BB}" type="slidenum">
              <a:rPr lang="en-US" smtClean="0"/>
              <a:t>10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220788-493A-9494-D61E-F3676D98FE6E}"/>
              </a:ext>
            </a:extLst>
          </p:cNvPr>
          <p:cNvSpPr txBox="1"/>
          <p:nvPr/>
        </p:nvSpPr>
        <p:spPr>
          <a:xfrm>
            <a:off x="714375" y="1912900"/>
            <a:ext cx="16858800" cy="430887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>
              <a:lnSpc>
                <a:spcPct val="100000"/>
              </a:lnSpc>
              <a:spcBef>
                <a:spcPct val="0"/>
              </a:spcBef>
              <a:buNone/>
              <a:defRPr sz="4000" b="1">
                <a:solidFill>
                  <a:schemeClr val="accent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2800" b="0" dirty="0"/>
              <a:t>Revenue in Central and South is concentrated in a few states, many of which show negative margins</a:t>
            </a:r>
            <a:endParaRPr lang="de-DE" sz="2800" b="0" dirty="0"/>
          </a:p>
        </p:txBody>
      </p:sp>
      <p:pic>
        <p:nvPicPr>
          <p:cNvPr id="7" name="Content Placeholder 6" descr="A blue and white bar graph&#10;&#10;AI-generated content may be incorrect.">
            <a:extLst>
              <a:ext uri="{FF2B5EF4-FFF2-40B4-BE49-F238E27FC236}">
                <a16:creationId xmlns:a16="http://schemas.microsoft.com/office/drawing/2014/main" id="{71FCB4D2-66F8-9F32-73AB-7B1930D60C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254" y="3269777"/>
            <a:ext cx="8429625" cy="5300742"/>
          </a:xfrm>
        </p:spPr>
      </p:pic>
      <p:pic>
        <p:nvPicPr>
          <p:cNvPr id="9" name="Picture 8" descr="A blue and yellow bar chart with white text&#10;&#10;AI-generated content may be incorrect.">
            <a:extLst>
              <a:ext uri="{FF2B5EF4-FFF2-40B4-BE49-F238E27FC236}">
                <a16:creationId xmlns:a16="http://schemas.microsoft.com/office/drawing/2014/main" id="{8F238132-F170-D79E-13AA-CB9912F965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6654" y="3264786"/>
            <a:ext cx="8396185" cy="530573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CDD2DF8-0ADB-FF1E-80B1-27688559BAF0}"/>
              </a:ext>
            </a:extLst>
          </p:cNvPr>
          <p:cNvSpPr txBox="1"/>
          <p:nvPr/>
        </p:nvSpPr>
        <p:spPr>
          <a:xfrm>
            <a:off x="1782231" y="2900859"/>
            <a:ext cx="62794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Top Revenue-Generating States (Central &amp; South)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2152A4-3EFD-8A78-F3D5-25752C039F4E}"/>
              </a:ext>
            </a:extLst>
          </p:cNvPr>
          <p:cNvSpPr txBox="1"/>
          <p:nvPr/>
        </p:nvSpPr>
        <p:spPr>
          <a:xfrm>
            <a:off x="10581483" y="2906118"/>
            <a:ext cx="55067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Profit Margin in those High-Revenue States</a:t>
            </a:r>
          </a:p>
        </p:txBody>
      </p:sp>
    </p:spTree>
    <p:extLst>
      <p:ext uri="{BB962C8B-B14F-4D97-AF65-F5344CB8AC3E}">
        <p14:creationId xmlns:p14="http://schemas.microsoft.com/office/powerpoint/2010/main" val="1106277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5A5B7-347D-23EB-CE73-93ED44155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C039040-4891-1C99-1874-81A0D66280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49180" y="4781550"/>
            <a:ext cx="7643020" cy="819150"/>
          </a:xfrm>
        </p:spPr>
        <p:txBody>
          <a:bodyPr/>
          <a:lstStyle/>
          <a:p>
            <a:r>
              <a:rPr lang="en-US" dirty="0"/>
              <a:t>Customer Segment Analysis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B29B05-280F-7E31-E93B-D3D8E1B00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680B1-7F17-42D2-83E2-2C9AC13983BB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385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D81CC-B30C-2BEB-E08B-83881FF60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07E4497C-1E60-80F0-4315-1C59B2C48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5" y="317500"/>
            <a:ext cx="16859250" cy="1266827"/>
          </a:xfrm>
        </p:spPr>
        <p:txBody>
          <a:bodyPr/>
          <a:lstStyle/>
          <a:p>
            <a:r>
              <a:rPr lang="en-US" dirty="0"/>
              <a:t>Customer Segment Analysis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E6A119-E04D-06F6-50C9-A5E7863A3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680B1-7F17-42D2-83E2-2C9AC13983BB}" type="slidenum">
              <a:rPr lang="en-US" smtClean="0"/>
              <a:t>12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74927D-B756-E1FF-45D8-F758B08316D7}"/>
              </a:ext>
            </a:extLst>
          </p:cNvPr>
          <p:cNvSpPr txBox="1"/>
          <p:nvPr/>
        </p:nvSpPr>
        <p:spPr>
          <a:xfrm>
            <a:off x="714825" y="1912900"/>
            <a:ext cx="16858800" cy="430887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>
              <a:lnSpc>
                <a:spcPct val="100000"/>
              </a:lnSpc>
              <a:spcBef>
                <a:spcPct val="0"/>
              </a:spcBef>
              <a:buNone/>
              <a:defRPr sz="4000" b="1">
                <a:solidFill>
                  <a:schemeClr val="accent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2800" b="0" dirty="0"/>
              <a:t>Profitability does not vary significantly across customer segments</a:t>
            </a:r>
            <a:endParaRPr lang="de-DE" sz="2800" b="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3F1152-7BD1-2233-9DBF-BACF343EFA1C}"/>
              </a:ext>
            </a:extLst>
          </p:cNvPr>
          <p:cNvSpPr txBox="1"/>
          <p:nvPr/>
        </p:nvSpPr>
        <p:spPr>
          <a:xfrm>
            <a:off x="6886181" y="2672360"/>
            <a:ext cx="45151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Profit Margin by Customer Segment</a:t>
            </a:r>
          </a:p>
        </p:txBody>
      </p:sp>
      <p:pic>
        <p:nvPicPr>
          <p:cNvPr id="7" name="Content Placeholder 6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184D252A-6D7A-16D5-C92C-E749A4BAE9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600" y="3072470"/>
            <a:ext cx="12193200" cy="6517922"/>
          </a:xfrm>
        </p:spPr>
      </p:pic>
    </p:spTree>
    <p:extLst>
      <p:ext uri="{BB962C8B-B14F-4D97-AF65-F5344CB8AC3E}">
        <p14:creationId xmlns:p14="http://schemas.microsoft.com/office/powerpoint/2010/main" val="4179155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5A5B7-347D-23EB-CE73-93ED44155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C039040-4891-1C99-1874-81A0D66280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49180" y="4781550"/>
            <a:ext cx="7338220" cy="819150"/>
          </a:xfrm>
        </p:spPr>
        <p:txBody>
          <a:bodyPr/>
          <a:lstStyle/>
          <a:p>
            <a:r>
              <a:rPr lang="en-US" dirty="0"/>
              <a:t>Category-Level Profitability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B29B05-280F-7E31-E93B-D3D8E1B00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680B1-7F17-42D2-83E2-2C9AC13983BB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91773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7C6D7-83C2-4B8B-0DE1-70C06CC25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BE5B28EC-82BF-8CD6-8193-01739AC7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5" y="317500"/>
            <a:ext cx="16859250" cy="1266827"/>
          </a:xfrm>
        </p:spPr>
        <p:txBody>
          <a:bodyPr/>
          <a:lstStyle/>
          <a:p>
            <a:r>
              <a:rPr lang="en-US" dirty="0"/>
              <a:t>Category-Level Profitability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B5C124-20A0-ADE6-E48E-548A2949E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680B1-7F17-42D2-83E2-2C9AC13983BB}" type="slidenum">
              <a:rPr lang="en-US" smtClean="0"/>
              <a:t>14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60F722-C281-4BC8-B1DC-4F7A6B2AD428}"/>
              </a:ext>
            </a:extLst>
          </p:cNvPr>
          <p:cNvSpPr txBox="1"/>
          <p:nvPr/>
        </p:nvSpPr>
        <p:spPr>
          <a:xfrm>
            <a:off x="714375" y="1912900"/>
            <a:ext cx="16858800" cy="430887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>
              <a:lnSpc>
                <a:spcPct val="100000"/>
              </a:lnSpc>
              <a:spcBef>
                <a:spcPct val="0"/>
              </a:spcBef>
              <a:buNone/>
              <a:defRPr sz="4000" b="1">
                <a:solidFill>
                  <a:schemeClr val="accent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2800" b="0" dirty="0"/>
              <a:t>Furniture shows significantly lower profitability compared to Office Supplies and Technology</a:t>
            </a:r>
            <a:endParaRPr lang="de-DE" sz="2800" b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B7666E-4B17-11AF-6CD9-5FB13BE70244}"/>
              </a:ext>
            </a:extLst>
          </p:cNvPr>
          <p:cNvSpPr txBox="1"/>
          <p:nvPr/>
        </p:nvSpPr>
        <p:spPr>
          <a:xfrm>
            <a:off x="7734075" y="2668307"/>
            <a:ext cx="2819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Margin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 per </a:t>
            </a:r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Category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Content Placeholder 8" descr="A graph of a number of blue and white bars&#10;&#10;AI-generated content may be incorrect.">
            <a:extLst>
              <a:ext uri="{FF2B5EF4-FFF2-40B4-BE49-F238E27FC236}">
                <a16:creationId xmlns:a16="http://schemas.microsoft.com/office/drawing/2014/main" id="{5718E9C8-C061-C269-6B85-A0FCA8AF28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243" y="3074400"/>
            <a:ext cx="11087513" cy="6732567"/>
          </a:xfrm>
        </p:spPr>
      </p:pic>
    </p:spTree>
    <p:extLst>
      <p:ext uri="{BB962C8B-B14F-4D97-AF65-F5344CB8AC3E}">
        <p14:creationId xmlns:p14="http://schemas.microsoft.com/office/powerpoint/2010/main" val="40126188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5A5B7-347D-23EB-CE73-93ED44155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C039040-4891-1C99-1874-81A0D66280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49180" y="4781550"/>
            <a:ext cx="10233820" cy="819150"/>
          </a:xfrm>
        </p:spPr>
        <p:txBody>
          <a:bodyPr/>
          <a:lstStyle/>
          <a:p>
            <a:r>
              <a:rPr lang="en-US" dirty="0"/>
              <a:t>Sub-Category Profitability Breakdown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B29B05-280F-7E31-E93B-D3D8E1B00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680B1-7F17-42D2-83E2-2C9AC13983BB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1881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7C6D7-83C2-4B8B-0DE1-70C06CC25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BE5B28EC-82BF-8CD6-8193-01739AC7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5" y="317500"/>
            <a:ext cx="16859250" cy="1266827"/>
          </a:xfrm>
        </p:spPr>
        <p:txBody>
          <a:bodyPr/>
          <a:lstStyle/>
          <a:p>
            <a:r>
              <a:rPr lang="en-US" dirty="0"/>
              <a:t>Sub-Category Profitability Breakdown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B5C124-20A0-ADE6-E48E-548A2949E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680B1-7F17-42D2-83E2-2C9AC13983BB}" type="slidenum">
              <a:rPr lang="en-US" smtClean="0"/>
              <a:t>16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60F722-C281-4BC8-B1DC-4F7A6B2AD428}"/>
              </a:ext>
            </a:extLst>
          </p:cNvPr>
          <p:cNvSpPr txBox="1"/>
          <p:nvPr/>
        </p:nvSpPr>
        <p:spPr>
          <a:xfrm>
            <a:off x="714375" y="1912900"/>
            <a:ext cx="16858800" cy="430887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>
              <a:lnSpc>
                <a:spcPct val="100000"/>
              </a:lnSpc>
              <a:spcBef>
                <a:spcPct val="0"/>
              </a:spcBef>
              <a:buNone/>
              <a:defRPr sz="4000" b="1">
                <a:solidFill>
                  <a:schemeClr val="accent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2800" b="0" dirty="0"/>
              <a:t>Losses are concentrated in a few sub-categories, particularly Tables, Bookcases and Supplies</a:t>
            </a:r>
            <a:endParaRPr lang="de-DE" sz="2800" b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B7666E-4B17-11AF-6CD9-5FB13BE70244}"/>
              </a:ext>
            </a:extLst>
          </p:cNvPr>
          <p:cNvSpPr txBox="1"/>
          <p:nvPr/>
        </p:nvSpPr>
        <p:spPr>
          <a:xfrm>
            <a:off x="7524412" y="2672360"/>
            <a:ext cx="32387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Margin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 per Sub-</a:t>
            </a:r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Category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Content Placeholder 10" descr="A screenshot of a graph&#10;&#10;AI-generated content may be incorrect.">
            <a:extLst>
              <a:ext uri="{FF2B5EF4-FFF2-40B4-BE49-F238E27FC236}">
                <a16:creationId xmlns:a16="http://schemas.microsoft.com/office/drawing/2014/main" id="{E8B428CE-B03A-8810-FA81-CA67D1C472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0859" y="3072470"/>
            <a:ext cx="12185830" cy="7024477"/>
          </a:xfrm>
        </p:spPr>
      </p:pic>
    </p:spTree>
    <p:extLst>
      <p:ext uri="{BB962C8B-B14F-4D97-AF65-F5344CB8AC3E}">
        <p14:creationId xmlns:p14="http://schemas.microsoft.com/office/powerpoint/2010/main" val="7255810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5A5B7-347D-23EB-CE73-93ED44155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C039040-4891-1C99-1874-81A0D66280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49180" y="4781550"/>
            <a:ext cx="8481220" cy="819150"/>
          </a:xfrm>
        </p:spPr>
        <p:txBody>
          <a:bodyPr/>
          <a:lstStyle/>
          <a:p>
            <a:r>
              <a:rPr lang="en-US" dirty="0"/>
              <a:t>Discount Impact on Profitability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B29B05-280F-7E31-E93B-D3D8E1B00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680B1-7F17-42D2-83E2-2C9AC13983BB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5920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7C6D7-83C2-4B8B-0DE1-70C06CC25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BE5B28EC-82BF-8CD6-8193-01739AC7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5" y="317500"/>
            <a:ext cx="16859250" cy="1266827"/>
          </a:xfrm>
        </p:spPr>
        <p:txBody>
          <a:bodyPr/>
          <a:lstStyle/>
          <a:p>
            <a:r>
              <a:rPr lang="en-US" dirty="0"/>
              <a:t>Discount Impact on Profitability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B5C124-20A0-ADE6-E48E-548A2949E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680B1-7F17-42D2-83E2-2C9AC13983BB}" type="slidenum">
              <a:rPr lang="en-US" smtClean="0"/>
              <a:t>18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60F722-C281-4BC8-B1DC-4F7A6B2AD428}"/>
              </a:ext>
            </a:extLst>
          </p:cNvPr>
          <p:cNvSpPr txBox="1"/>
          <p:nvPr/>
        </p:nvSpPr>
        <p:spPr>
          <a:xfrm>
            <a:off x="714375" y="1912900"/>
            <a:ext cx="16858800" cy="430887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>
              <a:lnSpc>
                <a:spcPct val="100000"/>
              </a:lnSpc>
              <a:spcBef>
                <a:spcPct val="0"/>
              </a:spcBef>
              <a:buNone/>
              <a:defRPr sz="4000" b="1">
                <a:solidFill>
                  <a:schemeClr val="accent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2800" b="0" dirty="0"/>
              <a:t>Profitability declines sharply as discount levels increase, becoming negative above 20% discounts</a:t>
            </a:r>
            <a:endParaRPr lang="de-DE" sz="2800" b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B7666E-4B17-11AF-6CD9-5FB13BE70244}"/>
              </a:ext>
            </a:extLst>
          </p:cNvPr>
          <p:cNvSpPr txBox="1"/>
          <p:nvPr/>
        </p:nvSpPr>
        <p:spPr>
          <a:xfrm>
            <a:off x="7029111" y="2672360"/>
            <a:ext cx="4229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Profit Margin by Discount Level</a:t>
            </a:r>
          </a:p>
        </p:txBody>
      </p:sp>
      <p:pic>
        <p:nvPicPr>
          <p:cNvPr id="18" name="Content Placeholder 17" descr="A graph of discounts&#10;&#10;AI-generated content may be incorrect.">
            <a:extLst>
              <a:ext uri="{FF2B5EF4-FFF2-40B4-BE49-F238E27FC236}">
                <a16:creationId xmlns:a16="http://schemas.microsoft.com/office/drawing/2014/main" id="{CAE60639-2928-8E52-9A3F-A9C2010C91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574" y="3073281"/>
            <a:ext cx="10820400" cy="6707089"/>
          </a:xfrm>
        </p:spPr>
      </p:pic>
    </p:spTree>
    <p:extLst>
      <p:ext uri="{BB962C8B-B14F-4D97-AF65-F5344CB8AC3E}">
        <p14:creationId xmlns:p14="http://schemas.microsoft.com/office/powerpoint/2010/main" val="33759727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5A5B7-347D-23EB-CE73-93ED44155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C039040-4891-1C99-1874-81A0D66280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49180" y="4781550"/>
            <a:ext cx="8862220" cy="819150"/>
          </a:xfrm>
        </p:spPr>
        <p:txBody>
          <a:bodyPr/>
          <a:lstStyle/>
          <a:p>
            <a:r>
              <a:rPr lang="en-US" dirty="0"/>
              <a:t>Discount Usage by Sub-Category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B29B05-280F-7E31-E93B-D3D8E1B00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680B1-7F17-42D2-83E2-2C9AC13983BB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5875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7C6D7-83C2-4B8B-0DE1-70C06CC25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BE5B28EC-82BF-8CD6-8193-01739AC7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5" y="317500"/>
            <a:ext cx="16859250" cy="1266827"/>
          </a:xfrm>
        </p:spPr>
        <p:txBody>
          <a:bodyPr/>
          <a:lstStyle/>
          <a:p>
            <a:r>
              <a:rPr lang="en-US" dirty="0"/>
              <a:t>Discount Usage by Sub-Category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B5C124-20A0-ADE6-E48E-548A2949E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680B1-7F17-42D2-83E2-2C9AC13983BB}" type="slidenum">
              <a:rPr lang="en-US" smtClean="0"/>
              <a:t>20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60F722-C281-4BC8-B1DC-4F7A6B2AD428}"/>
              </a:ext>
            </a:extLst>
          </p:cNvPr>
          <p:cNvSpPr txBox="1"/>
          <p:nvPr/>
        </p:nvSpPr>
        <p:spPr>
          <a:xfrm>
            <a:off x="714825" y="1584327"/>
            <a:ext cx="16858800" cy="861774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>
              <a:lnSpc>
                <a:spcPct val="100000"/>
              </a:lnSpc>
              <a:spcBef>
                <a:spcPct val="0"/>
              </a:spcBef>
              <a:buNone/>
              <a:defRPr sz="4000" b="1">
                <a:solidFill>
                  <a:schemeClr val="accent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2800" b="0" dirty="0"/>
              <a:t>High discount levels are widely applied across multiple sub-categories, including those with negative margins</a:t>
            </a:r>
            <a:endParaRPr lang="de-DE" sz="2800" b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B7666E-4B17-11AF-6CD9-5FB13BE70244}"/>
              </a:ext>
            </a:extLst>
          </p:cNvPr>
          <p:cNvSpPr txBox="1"/>
          <p:nvPr/>
        </p:nvSpPr>
        <p:spPr>
          <a:xfrm>
            <a:off x="5610168" y="2502665"/>
            <a:ext cx="70676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Sales Distribution by Discount Level (by Sub-Category)</a:t>
            </a:r>
          </a:p>
        </p:txBody>
      </p:sp>
      <p:pic>
        <p:nvPicPr>
          <p:cNvPr id="12" name="Content Placeholder 11" descr="A graph of a number of blue and yellow bars&#10;&#10;AI-generated content may be incorrect.">
            <a:extLst>
              <a:ext uri="{FF2B5EF4-FFF2-40B4-BE49-F238E27FC236}">
                <a16:creationId xmlns:a16="http://schemas.microsoft.com/office/drawing/2014/main" id="{4F01ED13-1FA1-22C2-4F2C-0F8CDDE4F0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0" y="2959339"/>
            <a:ext cx="11277600" cy="7071940"/>
          </a:xfrm>
        </p:spPr>
      </p:pic>
    </p:spTree>
    <p:extLst>
      <p:ext uri="{BB962C8B-B14F-4D97-AF65-F5344CB8AC3E}">
        <p14:creationId xmlns:p14="http://schemas.microsoft.com/office/powerpoint/2010/main" val="35413059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5A5B7-347D-23EB-CE73-93ED44155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C039040-4891-1C99-1874-81A0D66280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49180" y="4781550"/>
            <a:ext cx="6652420" cy="1504950"/>
          </a:xfrm>
        </p:spPr>
        <p:txBody>
          <a:bodyPr/>
          <a:lstStyle/>
          <a:p>
            <a:r>
              <a:rPr lang="en-US" dirty="0"/>
              <a:t>Discount Dependency in</a:t>
            </a:r>
          </a:p>
          <a:p>
            <a:r>
              <a:rPr lang="en-US" dirty="0"/>
              <a:t>Loss-Making States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B29B05-280F-7E31-E93B-D3D8E1B00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680B1-7F17-42D2-83E2-2C9AC13983BB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1790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7C6D7-83C2-4B8B-0DE1-70C06CC25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BE5B28EC-82BF-8CD6-8193-01739AC7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5" y="317500"/>
            <a:ext cx="16859250" cy="1266827"/>
          </a:xfrm>
        </p:spPr>
        <p:txBody>
          <a:bodyPr/>
          <a:lstStyle/>
          <a:p>
            <a:r>
              <a:rPr lang="en-US" dirty="0"/>
              <a:t>Discount Dependency in Loss-Making States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B5C124-20A0-ADE6-E48E-548A2949E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680B1-7F17-42D2-83E2-2C9AC13983BB}" type="slidenum">
              <a:rPr lang="en-US" smtClean="0"/>
              <a:t>22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60F722-C281-4BC8-B1DC-4F7A6B2AD428}"/>
              </a:ext>
            </a:extLst>
          </p:cNvPr>
          <p:cNvSpPr txBox="1"/>
          <p:nvPr/>
        </p:nvSpPr>
        <p:spPr>
          <a:xfrm>
            <a:off x="714825" y="1686352"/>
            <a:ext cx="16858800" cy="861774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>
              <a:lnSpc>
                <a:spcPct val="100000"/>
              </a:lnSpc>
              <a:spcBef>
                <a:spcPct val="0"/>
              </a:spcBef>
              <a:buNone/>
              <a:defRPr sz="4000" b="1">
                <a:solidFill>
                  <a:schemeClr val="accent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2800" b="0" dirty="0"/>
              <a:t>Sales in loss-making states are entirely dependent on discounts of at least 10–20%, with no full-price or low-discount transactions observed</a:t>
            </a:r>
            <a:endParaRPr lang="de-DE" sz="2800" b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B7666E-4B17-11AF-6CD9-5FB13BE70244}"/>
              </a:ext>
            </a:extLst>
          </p:cNvPr>
          <p:cNvSpPr txBox="1"/>
          <p:nvPr/>
        </p:nvSpPr>
        <p:spPr>
          <a:xfrm>
            <a:off x="5510179" y="2650151"/>
            <a:ext cx="7267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Sales Distribution by Discount Level (Loss-Making States)</a:t>
            </a:r>
          </a:p>
        </p:txBody>
      </p:sp>
      <p:pic>
        <p:nvPicPr>
          <p:cNvPr id="7" name="Content Placeholder 6" descr="A graph of discounts&#10;&#10;AI-generated content may be incorrect.">
            <a:extLst>
              <a:ext uri="{FF2B5EF4-FFF2-40B4-BE49-F238E27FC236}">
                <a16:creationId xmlns:a16="http://schemas.microsoft.com/office/drawing/2014/main" id="{25707754-7206-2CEA-B7F2-33559BC5D6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195" y="3152286"/>
            <a:ext cx="12039603" cy="6964630"/>
          </a:xfrm>
        </p:spPr>
      </p:pic>
    </p:spTree>
    <p:extLst>
      <p:ext uri="{BB962C8B-B14F-4D97-AF65-F5344CB8AC3E}">
        <p14:creationId xmlns:p14="http://schemas.microsoft.com/office/powerpoint/2010/main" val="2604506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5A5B7-347D-23EB-CE73-93ED44155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C039040-4891-1C99-1874-81A0D66280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49180" y="4781550"/>
            <a:ext cx="6652420" cy="1504950"/>
          </a:xfrm>
        </p:spPr>
        <p:txBody>
          <a:bodyPr/>
          <a:lstStyle/>
          <a:p>
            <a:r>
              <a:rPr lang="en-US" dirty="0"/>
              <a:t>Conclusions &amp; Business Recommendations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B29B05-280F-7E31-E93B-D3D8E1B00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680B1-7F17-42D2-83E2-2C9AC13983BB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6073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Conclusions &amp; Business Recommendations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BAB9146-EE94-FDEA-A237-5D038FF132D9}"/>
              </a:ext>
            </a:extLst>
          </p:cNvPr>
          <p:cNvSpPr/>
          <p:nvPr/>
        </p:nvSpPr>
        <p:spPr>
          <a:xfrm>
            <a:off x="725056" y="3346811"/>
            <a:ext cx="7894320" cy="6277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marL="360000" indent="-36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"/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Strong sales performance is not translating into profitability 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85D75F8-1386-F4B3-8AC7-4783D4599261}"/>
              </a:ext>
            </a:extLst>
          </p:cNvPr>
          <p:cNvCxnSpPr>
            <a:cxnSpLocks/>
          </p:cNvCxnSpPr>
          <p:nvPr/>
        </p:nvCxnSpPr>
        <p:spPr>
          <a:xfrm>
            <a:off x="685800" y="4229100"/>
            <a:ext cx="782002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01EF17AB-AFA1-5F9E-B36F-FF8B776070B8}"/>
              </a:ext>
            </a:extLst>
          </p:cNvPr>
          <p:cNvSpPr/>
          <p:nvPr/>
        </p:nvSpPr>
        <p:spPr>
          <a:xfrm>
            <a:off x="714375" y="4532121"/>
            <a:ext cx="7894320" cy="6230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marL="360000" indent="-36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"/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Central and South regions concentrate the lowest margins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37CB136-060A-5851-C9A5-06C630DDC6E1}"/>
              </a:ext>
            </a:extLst>
          </p:cNvPr>
          <p:cNvSpPr/>
          <p:nvPr/>
        </p:nvSpPr>
        <p:spPr>
          <a:xfrm>
            <a:off x="712356" y="5747177"/>
            <a:ext cx="7894320" cy="61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marL="360000" indent="-36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"/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Loss-making states are fully dependent on discount-driven sales (≥10%)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AC090E5-3D39-CCEE-E40A-9CA40FA5B6FF}"/>
              </a:ext>
            </a:extLst>
          </p:cNvPr>
          <p:cNvSpPr/>
          <p:nvPr/>
        </p:nvSpPr>
        <p:spPr>
          <a:xfrm>
            <a:off x="714374" y="6967199"/>
            <a:ext cx="8353425" cy="6230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marL="360000" indent="-36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"/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High discount levels (20%+) systematically destroy profitability across products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2A212EB-C842-E006-6900-474138F79527}"/>
              </a:ext>
            </a:extLst>
          </p:cNvPr>
          <p:cNvSpPr/>
          <p:nvPr/>
        </p:nvSpPr>
        <p:spPr>
          <a:xfrm>
            <a:off x="9674231" y="3346810"/>
            <a:ext cx="7894320" cy="6277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marL="360000" indent="-36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"/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Implement stricter discount controls, especially above 10–20% thresholds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FFCA214-8995-5679-009A-421DECE5B064}"/>
              </a:ext>
            </a:extLst>
          </p:cNvPr>
          <p:cNvSpPr/>
          <p:nvPr/>
        </p:nvSpPr>
        <p:spPr>
          <a:xfrm>
            <a:off x="9674231" y="4529904"/>
            <a:ext cx="7894320" cy="6230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marL="360000" indent="-36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"/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Redesign pricing strategies in loss-making states to reduce dependency on discounts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FE1415F-4546-6C81-6A6D-872871C2C6C3}"/>
              </a:ext>
            </a:extLst>
          </p:cNvPr>
          <p:cNvSpPr/>
          <p:nvPr/>
        </p:nvSpPr>
        <p:spPr>
          <a:xfrm>
            <a:off x="9679305" y="5743575"/>
            <a:ext cx="7894320" cy="6230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marL="360000" indent="-36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"/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Focus on promoting high-margin sub-categories without aggressive discounting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256327E-9237-3B8F-A82F-EF400B270B1A}"/>
              </a:ext>
            </a:extLst>
          </p:cNvPr>
          <p:cNvSpPr/>
          <p:nvPr/>
        </p:nvSpPr>
        <p:spPr>
          <a:xfrm>
            <a:off x="9679305" y="6968422"/>
            <a:ext cx="7894320" cy="620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marL="360000" indent="-36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"/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Introduce discount optimization models to balance volume and profitability</a:t>
            </a:r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5761B1C0-1FEE-2DA6-6708-19AFB79AA7F3}"/>
              </a:ext>
            </a:extLst>
          </p:cNvPr>
          <p:cNvGrpSpPr/>
          <p:nvPr/>
        </p:nvGrpSpPr>
        <p:grpSpPr>
          <a:xfrm>
            <a:off x="714375" y="1889656"/>
            <a:ext cx="7894320" cy="1226820"/>
            <a:chOff x="714375" y="1889656"/>
            <a:chExt cx="7894320" cy="122682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B7EA8EA4-151C-C30F-35DC-70CA7685069C}"/>
                </a:ext>
              </a:extLst>
            </p:cNvPr>
            <p:cNvGrpSpPr/>
            <p:nvPr/>
          </p:nvGrpSpPr>
          <p:grpSpPr>
            <a:xfrm>
              <a:off x="714375" y="2019300"/>
              <a:ext cx="7894320" cy="724548"/>
              <a:chOff x="714375" y="2019300"/>
              <a:chExt cx="7894320" cy="724548"/>
            </a:xfrm>
          </p:grpSpPr>
          <p:sp>
            <p:nvSpPr>
              <p:cNvPr id="3" name="Rectangle 2"/>
              <p:cNvSpPr/>
              <p:nvPr/>
            </p:nvSpPr>
            <p:spPr>
              <a:xfrm flipV="1">
                <a:off x="714375" y="2019300"/>
                <a:ext cx="7894320" cy="72454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000" dirty="0"/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2534213" y="2181519"/>
                <a:ext cx="179568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sz="2000" b="1" dirty="0">
                    <a:solidFill>
                      <a:schemeClr val="bg1"/>
                    </a:solidFill>
                  </a:rPr>
                  <a:t>Key Findings</a:t>
                </a:r>
              </a:p>
            </p:txBody>
          </p:sp>
        </p:grpSp>
        <p:sp>
          <p:nvSpPr>
            <p:cNvPr id="7" name="Pentagon 6"/>
            <p:cNvSpPr/>
            <p:nvPr/>
          </p:nvSpPr>
          <p:spPr>
            <a:xfrm rot="5400000">
              <a:off x="1009107" y="1855366"/>
              <a:ext cx="1226820" cy="1295400"/>
            </a:xfrm>
            <a:prstGeom prst="homePlate">
              <a:avLst>
                <a:gd name="adj" fmla="val 10722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 dirty="0"/>
            </a:p>
          </p:txBody>
        </p: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F28E55FE-3545-823A-1637-A3841AD9DED6}"/>
                </a:ext>
              </a:extLst>
            </p:cNvPr>
            <p:cNvGrpSpPr/>
            <p:nvPr/>
          </p:nvGrpSpPr>
          <p:grpSpPr>
            <a:xfrm>
              <a:off x="1228504" y="2109054"/>
              <a:ext cx="788027" cy="788025"/>
              <a:chOff x="2921918" y="2732639"/>
              <a:chExt cx="788027" cy="788025"/>
            </a:xfrm>
          </p:grpSpPr>
          <p:sp>
            <p:nvSpPr>
              <p:cNvPr id="114" name="Google Shape;14803;p84">
                <a:extLst>
                  <a:ext uri="{FF2B5EF4-FFF2-40B4-BE49-F238E27FC236}">
                    <a16:creationId xmlns:a16="http://schemas.microsoft.com/office/drawing/2014/main" id="{411AF352-2AC8-609D-6850-96B5ED6679D9}"/>
                  </a:ext>
                </a:extLst>
              </p:cNvPr>
              <p:cNvSpPr/>
              <p:nvPr/>
            </p:nvSpPr>
            <p:spPr>
              <a:xfrm>
                <a:off x="2921918" y="2732639"/>
                <a:ext cx="788027" cy="788025"/>
              </a:xfrm>
              <a:custGeom>
                <a:avLst/>
                <a:gdLst/>
                <a:ahLst/>
                <a:cxnLst/>
                <a:rect l="l" t="t" r="r" b="b"/>
                <a:pathLst>
                  <a:path w="11062" h="11062" extrusionOk="0">
                    <a:moveTo>
                      <a:pt x="6216" y="310"/>
                    </a:moveTo>
                    <a:cubicBezTo>
                      <a:pt x="6216" y="310"/>
                      <a:pt x="6240" y="310"/>
                      <a:pt x="6240" y="322"/>
                    </a:cubicBezTo>
                    <a:lnTo>
                      <a:pt x="6240" y="786"/>
                    </a:lnTo>
                    <a:cubicBezTo>
                      <a:pt x="6240" y="953"/>
                      <a:pt x="6335" y="1084"/>
                      <a:pt x="6502" y="1108"/>
                    </a:cubicBezTo>
                    <a:cubicBezTo>
                      <a:pt x="7025" y="1227"/>
                      <a:pt x="7514" y="1429"/>
                      <a:pt x="7966" y="1727"/>
                    </a:cubicBezTo>
                    <a:cubicBezTo>
                      <a:pt x="8022" y="1762"/>
                      <a:pt x="8086" y="1780"/>
                      <a:pt x="8150" y="1780"/>
                    </a:cubicBezTo>
                    <a:cubicBezTo>
                      <a:pt x="8236" y="1780"/>
                      <a:pt x="8321" y="1747"/>
                      <a:pt x="8383" y="1679"/>
                    </a:cubicBezTo>
                    <a:lnTo>
                      <a:pt x="8704" y="1346"/>
                    </a:lnTo>
                    <a:lnTo>
                      <a:pt x="8716" y="1346"/>
                    </a:lnTo>
                    <a:lnTo>
                      <a:pt x="9704" y="2334"/>
                    </a:lnTo>
                    <a:lnTo>
                      <a:pt x="9704" y="2346"/>
                    </a:lnTo>
                    <a:lnTo>
                      <a:pt x="9371" y="2679"/>
                    </a:lnTo>
                    <a:cubicBezTo>
                      <a:pt x="9252" y="2798"/>
                      <a:pt x="9240" y="2953"/>
                      <a:pt x="9335" y="3096"/>
                    </a:cubicBezTo>
                    <a:cubicBezTo>
                      <a:pt x="9609" y="3536"/>
                      <a:pt x="9823" y="4025"/>
                      <a:pt x="9943" y="4548"/>
                    </a:cubicBezTo>
                    <a:cubicBezTo>
                      <a:pt x="9966" y="4703"/>
                      <a:pt x="10109" y="4822"/>
                      <a:pt x="10264" y="4822"/>
                    </a:cubicBezTo>
                    <a:lnTo>
                      <a:pt x="10728" y="4822"/>
                    </a:lnTo>
                    <a:cubicBezTo>
                      <a:pt x="10728" y="4822"/>
                      <a:pt x="10752" y="4822"/>
                      <a:pt x="10752" y="4834"/>
                    </a:cubicBezTo>
                    <a:lnTo>
                      <a:pt x="10728" y="6239"/>
                    </a:lnTo>
                    <a:lnTo>
                      <a:pt x="10264" y="6239"/>
                    </a:lnTo>
                    <a:cubicBezTo>
                      <a:pt x="10109" y="6239"/>
                      <a:pt x="9966" y="6334"/>
                      <a:pt x="9943" y="6501"/>
                    </a:cubicBezTo>
                    <a:cubicBezTo>
                      <a:pt x="9823" y="7025"/>
                      <a:pt x="9633" y="7513"/>
                      <a:pt x="9335" y="7966"/>
                    </a:cubicBezTo>
                    <a:cubicBezTo>
                      <a:pt x="9240" y="8097"/>
                      <a:pt x="9252" y="8275"/>
                      <a:pt x="9371" y="8382"/>
                    </a:cubicBezTo>
                    <a:lnTo>
                      <a:pt x="9704" y="8704"/>
                    </a:lnTo>
                    <a:lnTo>
                      <a:pt x="9704" y="8716"/>
                    </a:lnTo>
                    <a:lnTo>
                      <a:pt x="8716" y="9704"/>
                    </a:lnTo>
                    <a:lnTo>
                      <a:pt x="8704" y="9704"/>
                    </a:lnTo>
                    <a:lnTo>
                      <a:pt x="8383" y="9370"/>
                    </a:lnTo>
                    <a:cubicBezTo>
                      <a:pt x="8317" y="9304"/>
                      <a:pt x="8236" y="9271"/>
                      <a:pt x="8155" y="9271"/>
                    </a:cubicBezTo>
                    <a:cubicBezTo>
                      <a:pt x="8090" y="9271"/>
                      <a:pt x="8024" y="9292"/>
                      <a:pt x="7966" y="9335"/>
                    </a:cubicBezTo>
                    <a:cubicBezTo>
                      <a:pt x="7514" y="9609"/>
                      <a:pt x="7025" y="9823"/>
                      <a:pt x="6502" y="9942"/>
                    </a:cubicBezTo>
                    <a:cubicBezTo>
                      <a:pt x="6359" y="9966"/>
                      <a:pt x="6240" y="10109"/>
                      <a:pt x="6240" y="10263"/>
                    </a:cubicBezTo>
                    <a:lnTo>
                      <a:pt x="6240" y="10728"/>
                    </a:lnTo>
                    <a:cubicBezTo>
                      <a:pt x="6240" y="10728"/>
                      <a:pt x="6240" y="10740"/>
                      <a:pt x="6216" y="10740"/>
                    </a:cubicBezTo>
                    <a:lnTo>
                      <a:pt x="4835" y="10740"/>
                    </a:lnTo>
                    <a:cubicBezTo>
                      <a:pt x="4835" y="10740"/>
                      <a:pt x="4823" y="10740"/>
                      <a:pt x="4823" y="10728"/>
                    </a:cubicBezTo>
                    <a:lnTo>
                      <a:pt x="4823" y="10263"/>
                    </a:lnTo>
                    <a:cubicBezTo>
                      <a:pt x="4823" y="10109"/>
                      <a:pt x="4716" y="9966"/>
                      <a:pt x="4549" y="9942"/>
                    </a:cubicBezTo>
                    <a:cubicBezTo>
                      <a:pt x="4037" y="9823"/>
                      <a:pt x="3537" y="9632"/>
                      <a:pt x="3096" y="9335"/>
                    </a:cubicBezTo>
                    <a:cubicBezTo>
                      <a:pt x="3037" y="9299"/>
                      <a:pt x="2977" y="9275"/>
                      <a:pt x="2918" y="9275"/>
                    </a:cubicBezTo>
                    <a:cubicBezTo>
                      <a:pt x="2823" y="9275"/>
                      <a:pt x="2751" y="9299"/>
                      <a:pt x="2680" y="9370"/>
                    </a:cubicBezTo>
                    <a:lnTo>
                      <a:pt x="2346" y="9704"/>
                    </a:lnTo>
                    <a:lnTo>
                      <a:pt x="2334" y="9704"/>
                    </a:lnTo>
                    <a:lnTo>
                      <a:pt x="1358" y="8716"/>
                    </a:lnTo>
                    <a:lnTo>
                      <a:pt x="1358" y="8704"/>
                    </a:lnTo>
                    <a:lnTo>
                      <a:pt x="1680" y="8382"/>
                    </a:lnTo>
                    <a:cubicBezTo>
                      <a:pt x="1799" y="8263"/>
                      <a:pt x="1811" y="8097"/>
                      <a:pt x="1727" y="7966"/>
                    </a:cubicBezTo>
                    <a:cubicBezTo>
                      <a:pt x="1441" y="7513"/>
                      <a:pt x="1239" y="7025"/>
                      <a:pt x="1120" y="6501"/>
                    </a:cubicBezTo>
                    <a:cubicBezTo>
                      <a:pt x="1084" y="6358"/>
                      <a:pt x="953" y="6239"/>
                      <a:pt x="787" y="6239"/>
                    </a:cubicBezTo>
                    <a:lnTo>
                      <a:pt x="322" y="6239"/>
                    </a:lnTo>
                    <a:cubicBezTo>
                      <a:pt x="322" y="6239"/>
                      <a:pt x="310" y="6239"/>
                      <a:pt x="310" y="6215"/>
                    </a:cubicBezTo>
                    <a:lnTo>
                      <a:pt x="310" y="4834"/>
                    </a:lnTo>
                    <a:cubicBezTo>
                      <a:pt x="310" y="4834"/>
                      <a:pt x="310" y="4822"/>
                      <a:pt x="322" y="4822"/>
                    </a:cubicBezTo>
                    <a:lnTo>
                      <a:pt x="787" y="4822"/>
                    </a:lnTo>
                    <a:cubicBezTo>
                      <a:pt x="953" y="4822"/>
                      <a:pt x="1084" y="4715"/>
                      <a:pt x="1120" y="4548"/>
                    </a:cubicBezTo>
                    <a:cubicBezTo>
                      <a:pt x="1239" y="4025"/>
                      <a:pt x="1430" y="3536"/>
                      <a:pt x="1727" y="3096"/>
                    </a:cubicBezTo>
                    <a:cubicBezTo>
                      <a:pt x="1811" y="2953"/>
                      <a:pt x="1799" y="2774"/>
                      <a:pt x="1680" y="2679"/>
                    </a:cubicBezTo>
                    <a:lnTo>
                      <a:pt x="1358" y="2346"/>
                    </a:lnTo>
                    <a:lnTo>
                      <a:pt x="1358" y="2334"/>
                    </a:lnTo>
                    <a:lnTo>
                      <a:pt x="2334" y="1346"/>
                    </a:lnTo>
                    <a:lnTo>
                      <a:pt x="2346" y="1346"/>
                    </a:lnTo>
                    <a:lnTo>
                      <a:pt x="2680" y="1679"/>
                    </a:lnTo>
                    <a:cubicBezTo>
                      <a:pt x="2748" y="1747"/>
                      <a:pt x="2832" y="1780"/>
                      <a:pt x="2916" y="1780"/>
                    </a:cubicBezTo>
                    <a:cubicBezTo>
                      <a:pt x="2978" y="1780"/>
                      <a:pt x="3041" y="1762"/>
                      <a:pt x="3096" y="1727"/>
                    </a:cubicBezTo>
                    <a:cubicBezTo>
                      <a:pt x="3537" y="1441"/>
                      <a:pt x="4037" y="1227"/>
                      <a:pt x="4549" y="1108"/>
                    </a:cubicBezTo>
                    <a:cubicBezTo>
                      <a:pt x="4704" y="1084"/>
                      <a:pt x="4823" y="953"/>
                      <a:pt x="4823" y="786"/>
                    </a:cubicBezTo>
                    <a:lnTo>
                      <a:pt x="4823" y="322"/>
                    </a:lnTo>
                    <a:cubicBezTo>
                      <a:pt x="4823" y="322"/>
                      <a:pt x="4823" y="310"/>
                      <a:pt x="4835" y="310"/>
                    </a:cubicBezTo>
                    <a:close/>
                    <a:moveTo>
                      <a:pt x="4835" y="0"/>
                    </a:moveTo>
                    <a:cubicBezTo>
                      <a:pt x="4656" y="0"/>
                      <a:pt x="4513" y="143"/>
                      <a:pt x="4513" y="322"/>
                    </a:cubicBezTo>
                    <a:lnTo>
                      <a:pt x="4513" y="786"/>
                    </a:lnTo>
                    <a:cubicBezTo>
                      <a:pt x="4513" y="786"/>
                      <a:pt x="4513" y="798"/>
                      <a:pt x="4489" y="798"/>
                    </a:cubicBezTo>
                    <a:cubicBezTo>
                      <a:pt x="3930" y="917"/>
                      <a:pt x="3406" y="1143"/>
                      <a:pt x="2930" y="1453"/>
                    </a:cubicBezTo>
                    <a:lnTo>
                      <a:pt x="2918" y="1453"/>
                    </a:lnTo>
                    <a:lnTo>
                      <a:pt x="2584" y="1131"/>
                    </a:lnTo>
                    <a:cubicBezTo>
                      <a:pt x="2519" y="1066"/>
                      <a:pt x="2436" y="1033"/>
                      <a:pt x="2351" y="1033"/>
                    </a:cubicBezTo>
                    <a:cubicBezTo>
                      <a:pt x="2266" y="1033"/>
                      <a:pt x="2180" y="1066"/>
                      <a:pt x="2108" y="1131"/>
                    </a:cubicBezTo>
                    <a:lnTo>
                      <a:pt x="1132" y="2108"/>
                    </a:lnTo>
                    <a:cubicBezTo>
                      <a:pt x="1001" y="2251"/>
                      <a:pt x="1001" y="2453"/>
                      <a:pt x="1132" y="2584"/>
                    </a:cubicBezTo>
                    <a:lnTo>
                      <a:pt x="1453" y="2917"/>
                    </a:lnTo>
                    <a:lnTo>
                      <a:pt x="1453" y="2929"/>
                    </a:lnTo>
                    <a:cubicBezTo>
                      <a:pt x="1144" y="3405"/>
                      <a:pt x="941" y="3941"/>
                      <a:pt x="799" y="4489"/>
                    </a:cubicBezTo>
                    <a:cubicBezTo>
                      <a:pt x="799" y="4489"/>
                      <a:pt x="799" y="4513"/>
                      <a:pt x="787" y="4513"/>
                    </a:cubicBezTo>
                    <a:lnTo>
                      <a:pt x="322" y="4513"/>
                    </a:lnTo>
                    <a:cubicBezTo>
                      <a:pt x="144" y="4513"/>
                      <a:pt x="1" y="4656"/>
                      <a:pt x="1" y="4834"/>
                    </a:cubicBezTo>
                    <a:lnTo>
                      <a:pt x="1" y="6215"/>
                    </a:lnTo>
                    <a:cubicBezTo>
                      <a:pt x="1" y="6394"/>
                      <a:pt x="144" y="6549"/>
                      <a:pt x="322" y="6549"/>
                    </a:cubicBezTo>
                    <a:lnTo>
                      <a:pt x="787" y="6549"/>
                    </a:lnTo>
                    <a:cubicBezTo>
                      <a:pt x="787" y="6549"/>
                      <a:pt x="799" y="6549"/>
                      <a:pt x="799" y="6561"/>
                    </a:cubicBezTo>
                    <a:cubicBezTo>
                      <a:pt x="918" y="7132"/>
                      <a:pt x="1144" y="7644"/>
                      <a:pt x="1453" y="8120"/>
                    </a:cubicBezTo>
                    <a:lnTo>
                      <a:pt x="1453" y="8144"/>
                    </a:lnTo>
                    <a:lnTo>
                      <a:pt x="1132" y="8466"/>
                    </a:lnTo>
                    <a:cubicBezTo>
                      <a:pt x="1001" y="8597"/>
                      <a:pt x="1001" y="8811"/>
                      <a:pt x="1132" y="8942"/>
                    </a:cubicBezTo>
                    <a:lnTo>
                      <a:pt x="2108" y="9930"/>
                    </a:lnTo>
                    <a:cubicBezTo>
                      <a:pt x="2180" y="9996"/>
                      <a:pt x="2266" y="10028"/>
                      <a:pt x="2351" y="10028"/>
                    </a:cubicBezTo>
                    <a:cubicBezTo>
                      <a:pt x="2436" y="10028"/>
                      <a:pt x="2519" y="9996"/>
                      <a:pt x="2584" y="9930"/>
                    </a:cubicBezTo>
                    <a:lnTo>
                      <a:pt x="2918" y="9597"/>
                    </a:lnTo>
                    <a:lnTo>
                      <a:pt x="2930" y="9597"/>
                    </a:lnTo>
                    <a:cubicBezTo>
                      <a:pt x="3406" y="9906"/>
                      <a:pt x="3942" y="10121"/>
                      <a:pt x="4489" y="10252"/>
                    </a:cubicBezTo>
                    <a:cubicBezTo>
                      <a:pt x="4489" y="10252"/>
                      <a:pt x="4513" y="10252"/>
                      <a:pt x="4513" y="10263"/>
                    </a:cubicBezTo>
                    <a:lnTo>
                      <a:pt x="4513" y="10728"/>
                    </a:lnTo>
                    <a:cubicBezTo>
                      <a:pt x="4513" y="10906"/>
                      <a:pt x="4656" y="11061"/>
                      <a:pt x="4835" y="11061"/>
                    </a:cubicBezTo>
                    <a:lnTo>
                      <a:pt x="6216" y="11061"/>
                    </a:lnTo>
                    <a:cubicBezTo>
                      <a:pt x="6394" y="11061"/>
                      <a:pt x="6549" y="10906"/>
                      <a:pt x="6549" y="10728"/>
                    </a:cubicBezTo>
                    <a:lnTo>
                      <a:pt x="6549" y="10263"/>
                    </a:lnTo>
                    <a:cubicBezTo>
                      <a:pt x="6549" y="10263"/>
                      <a:pt x="6549" y="10252"/>
                      <a:pt x="6561" y="10252"/>
                    </a:cubicBezTo>
                    <a:cubicBezTo>
                      <a:pt x="7133" y="10132"/>
                      <a:pt x="7645" y="9906"/>
                      <a:pt x="8121" y="9597"/>
                    </a:cubicBezTo>
                    <a:lnTo>
                      <a:pt x="8145" y="9597"/>
                    </a:lnTo>
                    <a:lnTo>
                      <a:pt x="8466" y="9930"/>
                    </a:lnTo>
                    <a:cubicBezTo>
                      <a:pt x="8532" y="9996"/>
                      <a:pt x="8618" y="10028"/>
                      <a:pt x="8704" y="10028"/>
                    </a:cubicBezTo>
                    <a:cubicBezTo>
                      <a:pt x="8791" y="10028"/>
                      <a:pt x="8877" y="9996"/>
                      <a:pt x="8942" y="9930"/>
                    </a:cubicBezTo>
                    <a:lnTo>
                      <a:pt x="9931" y="8942"/>
                    </a:lnTo>
                    <a:cubicBezTo>
                      <a:pt x="10062" y="8811"/>
                      <a:pt x="10062" y="8597"/>
                      <a:pt x="9931" y="8466"/>
                    </a:cubicBezTo>
                    <a:lnTo>
                      <a:pt x="9597" y="8144"/>
                    </a:lnTo>
                    <a:lnTo>
                      <a:pt x="9597" y="8120"/>
                    </a:lnTo>
                    <a:cubicBezTo>
                      <a:pt x="9919" y="7644"/>
                      <a:pt x="10121" y="7108"/>
                      <a:pt x="10252" y="6561"/>
                    </a:cubicBezTo>
                    <a:cubicBezTo>
                      <a:pt x="10252" y="6561"/>
                      <a:pt x="10252" y="6549"/>
                      <a:pt x="10264" y="6549"/>
                    </a:cubicBezTo>
                    <a:lnTo>
                      <a:pt x="10728" y="6549"/>
                    </a:lnTo>
                    <a:cubicBezTo>
                      <a:pt x="10907" y="6549"/>
                      <a:pt x="11062" y="6394"/>
                      <a:pt x="11062" y="6215"/>
                    </a:cubicBezTo>
                    <a:lnTo>
                      <a:pt x="11062" y="4834"/>
                    </a:lnTo>
                    <a:cubicBezTo>
                      <a:pt x="11062" y="4656"/>
                      <a:pt x="10907" y="4513"/>
                      <a:pt x="10728" y="4513"/>
                    </a:cubicBezTo>
                    <a:lnTo>
                      <a:pt x="10264" y="4513"/>
                    </a:lnTo>
                    <a:cubicBezTo>
                      <a:pt x="10264" y="4513"/>
                      <a:pt x="10252" y="4513"/>
                      <a:pt x="10252" y="4489"/>
                    </a:cubicBezTo>
                    <a:cubicBezTo>
                      <a:pt x="10133" y="3929"/>
                      <a:pt x="9907" y="3405"/>
                      <a:pt x="9597" y="2929"/>
                    </a:cubicBezTo>
                    <a:lnTo>
                      <a:pt x="9597" y="2917"/>
                    </a:lnTo>
                    <a:lnTo>
                      <a:pt x="9931" y="2584"/>
                    </a:lnTo>
                    <a:cubicBezTo>
                      <a:pt x="10062" y="2453"/>
                      <a:pt x="10062" y="2239"/>
                      <a:pt x="9931" y="2108"/>
                    </a:cubicBezTo>
                    <a:lnTo>
                      <a:pt x="8942" y="1131"/>
                    </a:lnTo>
                    <a:cubicBezTo>
                      <a:pt x="8877" y="1066"/>
                      <a:pt x="8791" y="1033"/>
                      <a:pt x="8704" y="1033"/>
                    </a:cubicBezTo>
                    <a:cubicBezTo>
                      <a:pt x="8618" y="1033"/>
                      <a:pt x="8532" y="1066"/>
                      <a:pt x="8466" y="1131"/>
                    </a:cubicBezTo>
                    <a:lnTo>
                      <a:pt x="8145" y="1453"/>
                    </a:lnTo>
                    <a:lnTo>
                      <a:pt x="8121" y="1453"/>
                    </a:lnTo>
                    <a:cubicBezTo>
                      <a:pt x="7645" y="1143"/>
                      <a:pt x="7109" y="941"/>
                      <a:pt x="6561" y="798"/>
                    </a:cubicBezTo>
                    <a:cubicBezTo>
                      <a:pt x="6561" y="798"/>
                      <a:pt x="6549" y="798"/>
                      <a:pt x="6549" y="786"/>
                    </a:cubicBezTo>
                    <a:lnTo>
                      <a:pt x="6549" y="322"/>
                    </a:lnTo>
                    <a:cubicBezTo>
                      <a:pt x="6549" y="143"/>
                      <a:pt x="6394" y="0"/>
                      <a:pt x="6216" y="0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</p:spPr>
            <p:txBody>
              <a:bodyPr spcFirstLastPara="1" wrap="square" lIns="137138" tIns="137138" rIns="137138" bIns="137138" anchor="ctr" anchorCtr="0">
                <a:noAutofit/>
              </a:bodyPr>
              <a:lstStyle/>
              <a:p>
                <a:endParaRPr sz="27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5" name="Google Shape;14804;p84">
                <a:extLst>
                  <a:ext uri="{FF2B5EF4-FFF2-40B4-BE49-F238E27FC236}">
                    <a16:creationId xmlns:a16="http://schemas.microsoft.com/office/drawing/2014/main" id="{0FF284B1-66D3-D8C8-834D-A9D335309122}"/>
                  </a:ext>
                </a:extLst>
              </p:cNvPr>
              <p:cNvSpPr/>
              <p:nvPr/>
            </p:nvSpPr>
            <p:spPr>
              <a:xfrm>
                <a:off x="3068664" y="2881525"/>
                <a:ext cx="408047" cy="404199"/>
              </a:xfrm>
              <a:custGeom>
                <a:avLst/>
                <a:gdLst/>
                <a:ahLst/>
                <a:cxnLst/>
                <a:rect l="l" t="t" r="r" b="b"/>
                <a:pathLst>
                  <a:path w="5728" h="5674" extrusionOk="0">
                    <a:moveTo>
                      <a:pt x="3502" y="0"/>
                    </a:moveTo>
                    <a:cubicBezTo>
                      <a:pt x="3438" y="0"/>
                      <a:pt x="3374" y="2"/>
                      <a:pt x="3311" y="6"/>
                    </a:cubicBezTo>
                    <a:cubicBezTo>
                      <a:pt x="2453" y="53"/>
                      <a:pt x="1644" y="411"/>
                      <a:pt x="1048" y="1018"/>
                    </a:cubicBezTo>
                    <a:cubicBezTo>
                      <a:pt x="441" y="1625"/>
                      <a:pt x="84" y="2435"/>
                      <a:pt x="36" y="3280"/>
                    </a:cubicBezTo>
                    <a:cubicBezTo>
                      <a:pt x="1" y="4125"/>
                      <a:pt x="263" y="4959"/>
                      <a:pt x="798" y="5614"/>
                    </a:cubicBezTo>
                    <a:cubicBezTo>
                      <a:pt x="834" y="5661"/>
                      <a:pt x="870" y="5673"/>
                      <a:pt x="917" y="5673"/>
                    </a:cubicBezTo>
                    <a:cubicBezTo>
                      <a:pt x="953" y="5673"/>
                      <a:pt x="989" y="5661"/>
                      <a:pt x="1025" y="5649"/>
                    </a:cubicBezTo>
                    <a:cubicBezTo>
                      <a:pt x="1096" y="5590"/>
                      <a:pt x="1096" y="5483"/>
                      <a:pt x="1048" y="5423"/>
                    </a:cubicBezTo>
                    <a:cubicBezTo>
                      <a:pt x="572" y="4828"/>
                      <a:pt x="322" y="4066"/>
                      <a:pt x="370" y="3304"/>
                    </a:cubicBezTo>
                    <a:cubicBezTo>
                      <a:pt x="417" y="2530"/>
                      <a:pt x="727" y="1804"/>
                      <a:pt x="1275" y="1256"/>
                    </a:cubicBezTo>
                    <a:cubicBezTo>
                      <a:pt x="1822" y="708"/>
                      <a:pt x="2560" y="375"/>
                      <a:pt x="3334" y="351"/>
                    </a:cubicBezTo>
                    <a:cubicBezTo>
                      <a:pt x="3397" y="347"/>
                      <a:pt x="3459" y="345"/>
                      <a:pt x="3521" y="345"/>
                    </a:cubicBezTo>
                    <a:cubicBezTo>
                      <a:pt x="4227" y="345"/>
                      <a:pt x="4895" y="592"/>
                      <a:pt x="5442" y="1030"/>
                    </a:cubicBezTo>
                    <a:cubicBezTo>
                      <a:pt x="5473" y="1055"/>
                      <a:pt x="5510" y="1068"/>
                      <a:pt x="5547" y="1068"/>
                    </a:cubicBezTo>
                    <a:cubicBezTo>
                      <a:pt x="5595" y="1068"/>
                      <a:pt x="5641" y="1046"/>
                      <a:pt x="5668" y="1006"/>
                    </a:cubicBezTo>
                    <a:cubicBezTo>
                      <a:pt x="5727" y="911"/>
                      <a:pt x="5716" y="815"/>
                      <a:pt x="5656" y="768"/>
                    </a:cubicBezTo>
                    <a:cubicBezTo>
                      <a:pt x="5050" y="272"/>
                      <a:pt x="4291" y="0"/>
                      <a:pt x="3502" y="0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</p:spPr>
            <p:txBody>
              <a:bodyPr spcFirstLastPara="1" wrap="square" lIns="137138" tIns="137138" rIns="137138" bIns="137138" anchor="ctr" anchorCtr="0">
                <a:noAutofit/>
              </a:bodyPr>
              <a:lstStyle/>
              <a:p>
                <a:endParaRPr sz="27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6" name="Google Shape;14805;p84">
                <a:extLst>
                  <a:ext uri="{FF2B5EF4-FFF2-40B4-BE49-F238E27FC236}">
                    <a16:creationId xmlns:a16="http://schemas.microsoft.com/office/drawing/2014/main" id="{45F45A0B-C758-9651-66BE-F127E729CA38}"/>
                  </a:ext>
                </a:extLst>
              </p:cNvPr>
              <p:cNvSpPr/>
              <p:nvPr/>
            </p:nvSpPr>
            <p:spPr>
              <a:xfrm>
                <a:off x="3155212" y="2953119"/>
                <a:ext cx="409683" cy="418234"/>
              </a:xfrm>
              <a:custGeom>
                <a:avLst/>
                <a:gdLst/>
                <a:ahLst/>
                <a:cxnLst/>
                <a:rect l="l" t="t" r="r" b="b"/>
                <a:pathLst>
                  <a:path w="5751" h="5871" extrusionOk="0">
                    <a:moveTo>
                      <a:pt x="3310" y="358"/>
                    </a:moveTo>
                    <a:lnTo>
                      <a:pt x="3310" y="1025"/>
                    </a:lnTo>
                    <a:cubicBezTo>
                      <a:pt x="3310" y="1132"/>
                      <a:pt x="3274" y="1251"/>
                      <a:pt x="3227" y="1334"/>
                    </a:cubicBezTo>
                    <a:lnTo>
                      <a:pt x="3155" y="1501"/>
                    </a:lnTo>
                    <a:cubicBezTo>
                      <a:pt x="3143" y="1525"/>
                      <a:pt x="3143" y="1549"/>
                      <a:pt x="3143" y="1573"/>
                    </a:cubicBezTo>
                    <a:lnTo>
                      <a:pt x="3143" y="1918"/>
                    </a:lnTo>
                    <a:cubicBezTo>
                      <a:pt x="3143" y="2156"/>
                      <a:pt x="3048" y="2382"/>
                      <a:pt x="2869" y="2549"/>
                    </a:cubicBezTo>
                    <a:cubicBezTo>
                      <a:pt x="2691" y="2704"/>
                      <a:pt x="2477" y="2799"/>
                      <a:pt x="2226" y="2799"/>
                    </a:cubicBezTo>
                    <a:cubicBezTo>
                      <a:pt x="1774" y="2787"/>
                      <a:pt x="1381" y="2370"/>
                      <a:pt x="1381" y="1870"/>
                    </a:cubicBezTo>
                    <a:lnTo>
                      <a:pt x="1381" y="1573"/>
                    </a:lnTo>
                    <a:cubicBezTo>
                      <a:pt x="1381" y="1549"/>
                      <a:pt x="1381" y="1525"/>
                      <a:pt x="1369" y="1501"/>
                    </a:cubicBezTo>
                    <a:lnTo>
                      <a:pt x="1262" y="1311"/>
                    </a:lnTo>
                    <a:cubicBezTo>
                      <a:pt x="1238" y="1227"/>
                      <a:pt x="1203" y="1156"/>
                      <a:pt x="1203" y="1072"/>
                    </a:cubicBezTo>
                    <a:lnTo>
                      <a:pt x="1203" y="1049"/>
                    </a:lnTo>
                    <a:cubicBezTo>
                      <a:pt x="1203" y="668"/>
                      <a:pt x="1524" y="358"/>
                      <a:pt x="1905" y="358"/>
                    </a:cubicBezTo>
                    <a:close/>
                    <a:moveTo>
                      <a:pt x="1905" y="3049"/>
                    </a:moveTo>
                    <a:cubicBezTo>
                      <a:pt x="2012" y="3085"/>
                      <a:pt x="2119" y="3108"/>
                      <a:pt x="2238" y="3108"/>
                    </a:cubicBezTo>
                    <a:lnTo>
                      <a:pt x="2274" y="3108"/>
                    </a:lnTo>
                    <a:cubicBezTo>
                      <a:pt x="2393" y="3108"/>
                      <a:pt x="2512" y="3097"/>
                      <a:pt x="2631" y="3049"/>
                    </a:cubicBezTo>
                    <a:lnTo>
                      <a:pt x="2631" y="3049"/>
                    </a:lnTo>
                    <a:cubicBezTo>
                      <a:pt x="2619" y="3108"/>
                      <a:pt x="2631" y="3156"/>
                      <a:pt x="2655" y="3204"/>
                    </a:cubicBezTo>
                    <a:lnTo>
                      <a:pt x="2512" y="3335"/>
                    </a:lnTo>
                    <a:cubicBezTo>
                      <a:pt x="2441" y="3406"/>
                      <a:pt x="2357" y="3442"/>
                      <a:pt x="2262" y="3442"/>
                    </a:cubicBezTo>
                    <a:cubicBezTo>
                      <a:pt x="2179" y="3442"/>
                      <a:pt x="2084" y="3406"/>
                      <a:pt x="2012" y="3335"/>
                    </a:cubicBezTo>
                    <a:lnTo>
                      <a:pt x="1881" y="3204"/>
                    </a:lnTo>
                    <a:cubicBezTo>
                      <a:pt x="1893" y="3156"/>
                      <a:pt x="1905" y="3108"/>
                      <a:pt x="1905" y="3049"/>
                    </a:cubicBezTo>
                    <a:close/>
                    <a:moveTo>
                      <a:pt x="2810" y="3466"/>
                    </a:moveTo>
                    <a:cubicBezTo>
                      <a:pt x="2858" y="3501"/>
                      <a:pt x="2905" y="3513"/>
                      <a:pt x="2941" y="3525"/>
                    </a:cubicBezTo>
                    <a:lnTo>
                      <a:pt x="3524" y="3692"/>
                    </a:lnTo>
                    <a:cubicBezTo>
                      <a:pt x="3679" y="3739"/>
                      <a:pt x="3774" y="3870"/>
                      <a:pt x="3774" y="4037"/>
                    </a:cubicBezTo>
                    <a:lnTo>
                      <a:pt x="3774" y="5132"/>
                    </a:lnTo>
                    <a:lnTo>
                      <a:pt x="3822" y="5132"/>
                    </a:lnTo>
                    <a:cubicBezTo>
                      <a:pt x="3703" y="5204"/>
                      <a:pt x="3584" y="5263"/>
                      <a:pt x="3453" y="5311"/>
                    </a:cubicBezTo>
                    <a:lnTo>
                      <a:pt x="3453" y="4335"/>
                    </a:lnTo>
                    <a:cubicBezTo>
                      <a:pt x="3453" y="4240"/>
                      <a:pt x="3381" y="4168"/>
                      <a:pt x="3286" y="4168"/>
                    </a:cubicBezTo>
                    <a:cubicBezTo>
                      <a:pt x="3203" y="4168"/>
                      <a:pt x="3119" y="4240"/>
                      <a:pt x="3119" y="4335"/>
                    </a:cubicBezTo>
                    <a:lnTo>
                      <a:pt x="3119" y="5430"/>
                    </a:lnTo>
                    <a:cubicBezTo>
                      <a:pt x="2881" y="5502"/>
                      <a:pt x="2655" y="5537"/>
                      <a:pt x="2405" y="5549"/>
                    </a:cubicBezTo>
                    <a:lnTo>
                      <a:pt x="2262" y="5549"/>
                    </a:lnTo>
                    <a:cubicBezTo>
                      <a:pt x="1965" y="5549"/>
                      <a:pt x="1667" y="5502"/>
                      <a:pt x="1381" y="5430"/>
                    </a:cubicBezTo>
                    <a:lnTo>
                      <a:pt x="1381" y="4335"/>
                    </a:lnTo>
                    <a:cubicBezTo>
                      <a:pt x="1381" y="4240"/>
                      <a:pt x="1310" y="4168"/>
                      <a:pt x="1214" y="4168"/>
                    </a:cubicBezTo>
                    <a:cubicBezTo>
                      <a:pt x="1131" y="4168"/>
                      <a:pt x="1060" y="4240"/>
                      <a:pt x="1060" y="4335"/>
                    </a:cubicBezTo>
                    <a:lnTo>
                      <a:pt x="1060" y="5311"/>
                    </a:lnTo>
                    <a:cubicBezTo>
                      <a:pt x="941" y="5252"/>
                      <a:pt x="798" y="5192"/>
                      <a:pt x="679" y="5132"/>
                    </a:cubicBezTo>
                    <a:lnTo>
                      <a:pt x="679" y="4037"/>
                    </a:lnTo>
                    <a:cubicBezTo>
                      <a:pt x="679" y="3870"/>
                      <a:pt x="786" y="3739"/>
                      <a:pt x="941" y="3692"/>
                    </a:cubicBezTo>
                    <a:lnTo>
                      <a:pt x="1512" y="3525"/>
                    </a:lnTo>
                    <a:cubicBezTo>
                      <a:pt x="1560" y="3513"/>
                      <a:pt x="1619" y="3501"/>
                      <a:pt x="1655" y="3466"/>
                    </a:cubicBezTo>
                    <a:lnTo>
                      <a:pt x="1750" y="3573"/>
                    </a:lnTo>
                    <a:cubicBezTo>
                      <a:pt x="1893" y="3704"/>
                      <a:pt x="2072" y="3763"/>
                      <a:pt x="2226" y="3763"/>
                    </a:cubicBezTo>
                    <a:cubicBezTo>
                      <a:pt x="2405" y="3763"/>
                      <a:pt x="2572" y="3704"/>
                      <a:pt x="2703" y="3573"/>
                    </a:cubicBezTo>
                    <a:lnTo>
                      <a:pt x="2810" y="3466"/>
                    </a:lnTo>
                    <a:close/>
                    <a:moveTo>
                      <a:pt x="1893" y="1"/>
                    </a:moveTo>
                    <a:cubicBezTo>
                      <a:pt x="1322" y="1"/>
                      <a:pt x="869" y="465"/>
                      <a:pt x="869" y="1025"/>
                    </a:cubicBezTo>
                    <a:lnTo>
                      <a:pt x="869" y="1037"/>
                    </a:lnTo>
                    <a:cubicBezTo>
                      <a:pt x="869" y="1168"/>
                      <a:pt x="893" y="1311"/>
                      <a:pt x="953" y="1430"/>
                    </a:cubicBezTo>
                    <a:lnTo>
                      <a:pt x="1048" y="1596"/>
                    </a:lnTo>
                    <a:lnTo>
                      <a:pt x="1048" y="1858"/>
                    </a:lnTo>
                    <a:cubicBezTo>
                      <a:pt x="1048" y="2275"/>
                      <a:pt x="1250" y="2644"/>
                      <a:pt x="1560" y="2882"/>
                    </a:cubicBezTo>
                    <a:lnTo>
                      <a:pt x="1560" y="3037"/>
                    </a:lnTo>
                    <a:cubicBezTo>
                      <a:pt x="1560" y="3108"/>
                      <a:pt x="1500" y="3180"/>
                      <a:pt x="1429" y="3216"/>
                    </a:cubicBezTo>
                    <a:lnTo>
                      <a:pt x="845" y="3382"/>
                    </a:lnTo>
                    <a:cubicBezTo>
                      <a:pt x="548" y="3466"/>
                      <a:pt x="357" y="3739"/>
                      <a:pt x="357" y="4037"/>
                    </a:cubicBezTo>
                    <a:lnTo>
                      <a:pt x="357" y="4906"/>
                    </a:lnTo>
                    <a:cubicBezTo>
                      <a:pt x="333" y="4894"/>
                      <a:pt x="310" y="4859"/>
                      <a:pt x="286" y="4847"/>
                    </a:cubicBezTo>
                    <a:cubicBezTo>
                      <a:pt x="256" y="4822"/>
                      <a:pt x="220" y="4810"/>
                      <a:pt x="185" y="4810"/>
                    </a:cubicBezTo>
                    <a:cubicBezTo>
                      <a:pt x="135" y="4810"/>
                      <a:pt x="87" y="4834"/>
                      <a:pt x="60" y="4882"/>
                    </a:cubicBezTo>
                    <a:cubicBezTo>
                      <a:pt x="0" y="4954"/>
                      <a:pt x="12" y="5061"/>
                      <a:pt x="95" y="5097"/>
                    </a:cubicBezTo>
                    <a:cubicBezTo>
                      <a:pt x="702" y="5597"/>
                      <a:pt x="1476" y="5871"/>
                      <a:pt x="2262" y="5871"/>
                    </a:cubicBezTo>
                    <a:lnTo>
                      <a:pt x="2429" y="5871"/>
                    </a:lnTo>
                    <a:cubicBezTo>
                      <a:pt x="3286" y="5835"/>
                      <a:pt x="4096" y="5478"/>
                      <a:pt x="4691" y="4859"/>
                    </a:cubicBezTo>
                    <a:cubicBezTo>
                      <a:pt x="5298" y="4251"/>
                      <a:pt x="5655" y="3454"/>
                      <a:pt x="5703" y="2596"/>
                    </a:cubicBezTo>
                    <a:cubicBezTo>
                      <a:pt x="5751" y="1751"/>
                      <a:pt x="5477" y="918"/>
                      <a:pt x="4941" y="263"/>
                    </a:cubicBezTo>
                    <a:cubicBezTo>
                      <a:pt x="4908" y="223"/>
                      <a:pt x="4861" y="206"/>
                      <a:pt x="4815" y="206"/>
                    </a:cubicBezTo>
                    <a:cubicBezTo>
                      <a:pt x="4778" y="206"/>
                      <a:pt x="4742" y="218"/>
                      <a:pt x="4715" y="239"/>
                    </a:cubicBezTo>
                    <a:cubicBezTo>
                      <a:pt x="4643" y="299"/>
                      <a:pt x="4643" y="406"/>
                      <a:pt x="4691" y="465"/>
                    </a:cubicBezTo>
                    <a:cubicBezTo>
                      <a:pt x="5167" y="1061"/>
                      <a:pt x="5417" y="1811"/>
                      <a:pt x="5370" y="2573"/>
                    </a:cubicBezTo>
                    <a:cubicBezTo>
                      <a:pt x="5334" y="3347"/>
                      <a:pt x="5013" y="4073"/>
                      <a:pt x="4465" y="4632"/>
                    </a:cubicBezTo>
                    <a:cubicBezTo>
                      <a:pt x="4358" y="4728"/>
                      <a:pt x="4262" y="4823"/>
                      <a:pt x="4155" y="4906"/>
                    </a:cubicBezTo>
                    <a:lnTo>
                      <a:pt x="4155" y="4037"/>
                    </a:lnTo>
                    <a:cubicBezTo>
                      <a:pt x="4155" y="3739"/>
                      <a:pt x="3941" y="3466"/>
                      <a:pt x="3667" y="3382"/>
                    </a:cubicBezTo>
                    <a:lnTo>
                      <a:pt x="3084" y="3216"/>
                    </a:lnTo>
                    <a:cubicBezTo>
                      <a:pt x="3012" y="3180"/>
                      <a:pt x="2953" y="3120"/>
                      <a:pt x="2953" y="3037"/>
                    </a:cubicBezTo>
                    <a:lnTo>
                      <a:pt x="2953" y="2906"/>
                    </a:lnTo>
                    <a:cubicBezTo>
                      <a:pt x="3012" y="2858"/>
                      <a:pt x="3048" y="2823"/>
                      <a:pt x="3096" y="2763"/>
                    </a:cubicBezTo>
                    <a:cubicBezTo>
                      <a:pt x="3334" y="2549"/>
                      <a:pt x="3453" y="2227"/>
                      <a:pt x="3453" y="1906"/>
                    </a:cubicBezTo>
                    <a:lnTo>
                      <a:pt x="3453" y="1596"/>
                    </a:lnTo>
                    <a:lnTo>
                      <a:pt x="3512" y="1453"/>
                    </a:lnTo>
                    <a:cubicBezTo>
                      <a:pt x="3584" y="1311"/>
                      <a:pt x="3620" y="1156"/>
                      <a:pt x="3620" y="1001"/>
                    </a:cubicBezTo>
                    <a:lnTo>
                      <a:pt x="3620" y="168"/>
                    </a:lnTo>
                    <a:cubicBezTo>
                      <a:pt x="3620" y="72"/>
                      <a:pt x="3548" y="1"/>
                      <a:pt x="3453" y="1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</p:spPr>
            <p:txBody>
              <a:bodyPr spcFirstLastPara="1" wrap="square" lIns="137138" tIns="137138" rIns="137138" bIns="137138" anchor="ctr" anchorCtr="0">
                <a:noAutofit/>
              </a:bodyPr>
              <a:lstStyle/>
              <a:p>
                <a:endParaRPr sz="27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7" name="Google Shape;14806;p84">
                <a:extLst>
                  <a:ext uri="{FF2B5EF4-FFF2-40B4-BE49-F238E27FC236}">
                    <a16:creationId xmlns:a16="http://schemas.microsoft.com/office/drawing/2014/main" id="{DF37DC5E-BB06-824E-E6D6-1D6FCEA99A89}"/>
                  </a:ext>
                </a:extLst>
              </p:cNvPr>
              <p:cNvSpPr/>
              <p:nvPr/>
            </p:nvSpPr>
            <p:spPr>
              <a:xfrm>
                <a:off x="3267971" y="3016713"/>
                <a:ext cx="98449" cy="34907"/>
              </a:xfrm>
              <a:custGeom>
                <a:avLst/>
                <a:gdLst/>
                <a:ahLst/>
                <a:cxnLst/>
                <a:rect l="l" t="t" r="r" b="b"/>
                <a:pathLst>
                  <a:path w="1382" h="490" extrusionOk="0">
                    <a:moveTo>
                      <a:pt x="155" y="1"/>
                    </a:moveTo>
                    <a:cubicBezTo>
                      <a:pt x="72" y="1"/>
                      <a:pt x="1" y="72"/>
                      <a:pt x="1" y="168"/>
                    </a:cubicBezTo>
                    <a:cubicBezTo>
                      <a:pt x="1" y="251"/>
                      <a:pt x="72" y="322"/>
                      <a:pt x="155" y="322"/>
                    </a:cubicBezTo>
                    <a:cubicBezTo>
                      <a:pt x="334" y="322"/>
                      <a:pt x="870" y="358"/>
                      <a:pt x="1132" y="477"/>
                    </a:cubicBezTo>
                    <a:cubicBezTo>
                      <a:pt x="1155" y="489"/>
                      <a:pt x="1167" y="489"/>
                      <a:pt x="1203" y="489"/>
                    </a:cubicBezTo>
                    <a:cubicBezTo>
                      <a:pt x="1263" y="489"/>
                      <a:pt x="1322" y="465"/>
                      <a:pt x="1346" y="406"/>
                    </a:cubicBezTo>
                    <a:cubicBezTo>
                      <a:pt x="1382" y="322"/>
                      <a:pt x="1346" y="227"/>
                      <a:pt x="1275" y="191"/>
                    </a:cubicBezTo>
                    <a:cubicBezTo>
                      <a:pt x="905" y="1"/>
                      <a:pt x="191" y="1"/>
                      <a:pt x="155" y="1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</p:spPr>
            <p:txBody>
              <a:bodyPr spcFirstLastPara="1" wrap="square" lIns="137138" tIns="137138" rIns="137138" bIns="137138" anchor="ctr" anchorCtr="0">
                <a:noAutofit/>
              </a:bodyPr>
              <a:lstStyle/>
              <a:p>
                <a:endParaRPr sz="27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C4F68D1D-4E9F-BF3E-00F8-7CFD909FB131}"/>
              </a:ext>
            </a:extLst>
          </p:cNvPr>
          <p:cNvGrpSpPr/>
          <p:nvPr/>
        </p:nvGrpSpPr>
        <p:grpSpPr>
          <a:xfrm>
            <a:off x="9674231" y="1892647"/>
            <a:ext cx="7894320" cy="1226820"/>
            <a:chOff x="714375" y="1889656"/>
            <a:chExt cx="7894320" cy="1226820"/>
          </a:xfrm>
        </p:grpSpPr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2B8BF231-1E35-E115-29C7-46AACCC4D01A}"/>
                </a:ext>
              </a:extLst>
            </p:cNvPr>
            <p:cNvGrpSpPr/>
            <p:nvPr/>
          </p:nvGrpSpPr>
          <p:grpSpPr>
            <a:xfrm>
              <a:off x="714375" y="2019300"/>
              <a:ext cx="7894320" cy="724548"/>
              <a:chOff x="714375" y="2019300"/>
              <a:chExt cx="7894320" cy="724548"/>
            </a:xfrm>
          </p:grpSpPr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ED7457DF-F326-098A-1281-D9F0EC1A750F}"/>
                  </a:ext>
                </a:extLst>
              </p:cNvPr>
              <p:cNvSpPr/>
              <p:nvPr/>
            </p:nvSpPr>
            <p:spPr>
              <a:xfrm flipV="1">
                <a:off x="714375" y="2019300"/>
                <a:ext cx="7894320" cy="72454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000" dirty="0"/>
              </a:p>
            </p:txBody>
          </p:sp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19361503-B09A-ED9A-1773-64EEBF64B548}"/>
                  </a:ext>
                </a:extLst>
              </p:cNvPr>
              <p:cNvSpPr/>
              <p:nvPr/>
            </p:nvSpPr>
            <p:spPr>
              <a:xfrm>
                <a:off x="2534213" y="2181519"/>
                <a:ext cx="369203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sz="2000" b="1" dirty="0">
                    <a:solidFill>
                      <a:schemeClr val="bg1"/>
                    </a:solidFill>
                  </a:rPr>
                  <a:t>Business Recommendations</a:t>
                </a:r>
              </a:p>
            </p:txBody>
          </p:sp>
        </p:grpSp>
        <p:sp>
          <p:nvSpPr>
            <p:cNvPr id="122" name="Pentagon 6">
              <a:extLst>
                <a:ext uri="{FF2B5EF4-FFF2-40B4-BE49-F238E27FC236}">
                  <a16:creationId xmlns:a16="http://schemas.microsoft.com/office/drawing/2014/main" id="{1493B87A-86C9-6DE4-8732-D0D31B64EFCE}"/>
                </a:ext>
              </a:extLst>
            </p:cNvPr>
            <p:cNvSpPr/>
            <p:nvPr/>
          </p:nvSpPr>
          <p:spPr>
            <a:xfrm rot="5400000">
              <a:off x="1009107" y="1855366"/>
              <a:ext cx="1226820" cy="1295400"/>
            </a:xfrm>
            <a:prstGeom prst="homePlate">
              <a:avLst>
                <a:gd name="adj" fmla="val 10722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 dirty="0"/>
            </a:p>
          </p:txBody>
        </p:sp>
        <p:sp>
          <p:nvSpPr>
            <p:cNvPr id="124" name="Google Shape;14803;p84">
              <a:extLst>
                <a:ext uri="{FF2B5EF4-FFF2-40B4-BE49-F238E27FC236}">
                  <a16:creationId xmlns:a16="http://schemas.microsoft.com/office/drawing/2014/main" id="{1594F597-097D-AA19-0BDF-34CD77288772}"/>
                </a:ext>
              </a:extLst>
            </p:cNvPr>
            <p:cNvSpPr/>
            <p:nvPr/>
          </p:nvSpPr>
          <p:spPr>
            <a:xfrm>
              <a:off x="1228504" y="2109054"/>
              <a:ext cx="788027" cy="788025"/>
            </a:xfrm>
            <a:custGeom>
              <a:avLst/>
              <a:gdLst/>
              <a:ahLst/>
              <a:cxnLst/>
              <a:rect l="l" t="t" r="r" b="b"/>
              <a:pathLst>
                <a:path w="11062" h="11062" extrusionOk="0">
                  <a:moveTo>
                    <a:pt x="6216" y="310"/>
                  </a:moveTo>
                  <a:cubicBezTo>
                    <a:pt x="6216" y="310"/>
                    <a:pt x="6240" y="310"/>
                    <a:pt x="6240" y="322"/>
                  </a:cubicBezTo>
                  <a:lnTo>
                    <a:pt x="6240" y="786"/>
                  </a:lnTo>
                  <a:cubicBezTo>
                    <a:pt x="6240" y="953"/>
                    <a:pt x="6335" y="1084"/>
                    <a:pt x="6502" y="1108"/>
                  </a:cubicBezTo>
                  <a:cubicBezTo>
                    <a:pt x="7025" y="1227"/>
                    <a:pt x="7514" y="1429"/>
                    <a:pt x="7966" y="1727"/>
                  </a:cubicBezTo>
                  <a:cubicBezTo>
                    <a:pt x="8022" y="1762"/>
                    <a:pt x="8086" y="1780"/>
                    <a:pt x="8150" y="1780"/>
                  </a:cubicBezTo>
                  <a:cubicBezTo>
                    <a:pt x="8236" y="1780"/>
                    <a:pt x="8321" y="1747"/>
                    <a:pt x="8383" y="1679"/>
                  </a:cubicBezTo>
                  <a:lnTo>
                    <a:pt x="8704" y="1346"/>
                  </a:lnTo>
                  <a:lnTo>
                    <a:pt x="8716" y="1346"/>
                  </a:lnTo>
                  <a:lnTo>
                    <a:pt x="9704" y="2334"/>
                  </a:lnTo>
                  <a:lnTo>
                    <a:pt x="9704" y="2346"/>
                  </a:lnTo>
                  <a:lnTo>
                    <a:pt x="9371" y="2679"/>
                  </a:lnTo>
                  <a:cubicBezTo>
                    <a:pt x="9252" y="2798"/>
                    <a:pt x="9240" y="2953"/>
                    <a:pt x="9335" y="3096"/>
                  </a:cubicBezTo>
                  <a:cubicBezTo>
                    <a:pt x="9609" y="3536"/>
                    <a:pt x="9823" y="4025"/>
                    <a:pt x="9943" y="4548"/>
                  </a:cubicBezTo>
                  <a:cubicBezTo>
                    <a:pt x="9966" y="4703"/>
                    <a:pt x="10109" y="4822"/>
                    <a:pt x="10264" y="4822"/>
                  </a:cubicBezTo>
                  <a:lnTo>
                    <a:pt x="10728" y="4822"/>
                  </a:lnTo>
                  <a:cubicBezTo>
                    <a:pt x="10728" y="4822"/>
                    <a:pt x="10752" y="4822"/>
                    <a:pt x="10752" y="4834"/>
                  </a:cubicBezTo>
                  <a:lnTo>
                    <a:pt x="10728" y="6239"/>
                  </a:lnTo>
                  <a:lnTo>
                    <a:pt x="10264" y="6239"/>
                  </a:lnTo>
                  <a:cubicBezTo>
                    <a:pt x="10109" y="6239"/>
                    <a:pt x="9966" y="6334"/>
                    <a:pt x="9943" y="6501"/>
                  </a:cubicBezTo>
                  <a:cubicBezTo>
                    <a:pt x="9823" y="7025"/>
                    <a:pt x="9633" y="7513"/>
                    <a:pt x="9335" y="7966"/>
                  </a:cubicBezTo>
                  <a:cubicBezTo>
                    <a:pt x="9240" y="8097"/>
                    <a:pt x="9252" y="8275"/>
                    <a:pt x="9371" y="8382"/>
                  </a:cubicBezTo>
                  <a:lnTo>
                    <a:pt x="9704" y="8704"/>
                  </a:lnTo>
                  <a:lnTo>
                    <a:pt x="9704" y="8716"/>
                  </a:lnTo>
                  <a:lnTo>
                    <a:pt x="8716" y="9704"/>
                  </a:lnTo>
                  <a:lnTo>
                    <a:pt x="8704" y="9704"/>
                  </a:lnTo>
                  <a:lnTo>
                    <a:pt x="8383" y="9370"/>
                  </a:lnTo>
                  <a:cubicBezTo>
                    <a:pt x="8317" y="9304"/>
                    <a:pt x="8236" y="9271"/>
                    <a:pt x="8155" y="9271"/>
                  </a:cubicBezTo>
                  <a:cubicBezTo>
                    <a:pt x="8090" y="9271"/>
                    <a:pt x="8024" y="9292"/>
                    <a:pt x="7966" y="9335"/>
                  </a:cubicBezTo>
                  <a:cubicBezTo>
                    <a:pt x="7514" y="9609"/>
                    <a:pt x="7025" y="9823"/>
                    <a:pt x="6502" y="9942"/>
                  </a:cubicBezTo>
                  <a:cubicBezTo>
                    <a:pt x="6359" y="9966"/>
                    <a:pt x="6240" y="10109"/>
                    <a:pt x="6240" y="10263"/>
                  </a:cubicBezTo>
                  <a:lnTo>
                    <a:pt x="6240" y="10728"/>
                  </a:lnTo>
                  <a:cubicBezTo>
                    <a:pt x="6240" y="10728"/>
                    <a:pt x="6240" y="10740"/>
                    <a:pt x="6216" y="10740"/>
                  </a:cubicBezTo>
                  <a:lnTo>
                    <a:pt x="4835" y="10740"/>
                  </a:lnTo>
                  <a:cubicBezTo>
                    <a:pt x="4835" y="10740"/>
                    <a:pt x="4823" y="10740"/>
                    <a:pt x="4823" y="10728"/>
                  </a:cubicBezTo>
                  <a:lnTo>
                    <a:pt x="4823" y="10263"/>
                  </a:lnTo>
                  <a:cubicBezTo>
                    <a:pt x="4823" y="10109"/>
                    <a:pt x="4716" y="9966"/>
                    <a:pt x="4549" y="9942"/>
                  </a:cubicBezTo>
                  <a:cubicBezTo>
                    <a:pt x="4037" y="9823"/>
                    <a:pt x="3537" y="9632"/>
                    <a:pt x="3096" y="9335"/>
                  </a:cubicBezTo>
                  <a:cubicBezTo>
                    <a:pt x="3037" y="9299"/>
                    <a:pt x="2977" y="9275"/>
                    <a:pt x="2918" y="9275"/>
                  </a:cubicBezTo>
                  <a:cubicBezTo>
                    <a:pt x="2823" y="9275"/>
                    <a:pt x="2751" y="9299"/>
                    <a:pt x="2680" y="9370"/>
                  </a:cubicBezTo>
                  <a:lnTo>
                    <a:pt x="2346" y="9704"/>
                  </a:lnTo>
                  <a:lnTo>
                    <a:pt x="2334" y="9704"/>
                  </a:lnTo>
                  <a:lnTo>
                    <a:pt x="1358" y="8716"/>
                  </a:lnTo>
                  <a:lnTo>
                    <a:pt x="1358" y="8704"/>
                  </a:lnTo>
                  <a:lnTo>
                    <a:pt x="1680" y="8382"/>
                  </a:lnTo>
                  <a:cubicBezTo>
                    <a:pt x="1799" y="8263"/>
                    <a:pt x="1811" y="8097"/>
                    <a:pt x="1727" y="7966"/>
                  </a:cubicBezTo>
                  <a:cubicBezTo>
                    <a:pt x="1441" y="7513"/>
                    <a:pt x="1239" y="7025"/>
                    <a:pt x="1120" y="6501"/>
                  </a:cubicBezTo>
                  <a:cubicBezTo>
                    <a:pt x="1084" y="6358"/>
                    <a:pt x="953" y="6239"/>
                    <a:pt x="787" y="6239"/>
                  </a:cubicBezTo>
                  <a:lnTo>
                    <a:pt x="322" y="6239"/>
                  </a:lnTo>
                  <a:cubicBezTo>
                    <a:pt x="322" y="6239"/>
                    <a:pt x="310" y="6239"/>
                    <a:pt x="310" y="6215"/>
                  </a:cubicBezTo>
                  <a:lnTo>
                    <a:pt x="310" y="4834"/>
                  </a:lnTo>
                  <a:cubicBezTo>
                    <a:pt x="310" y="4834"/>
                    <a:pt x="310" y="4822"/>
                    <a:pt x="322" y="4822"/>
                  </a:cubicBezTo>
                  <a:lnTo>
                    <a:pt x="787" y="4822"/>
                  </a:lnTo>
                  <a:cubicBezTo>
                    <a:pt x="953" y="4822"/>
                    <a:pt x="1084" y="4715"/>
                    <a:pt x="1120" y="4548"/>
                  </a:cubicBezTo>
                  <a:cubicBezTo>
                    <a:pt x="1239" y="4025"/>
                    <a:pt x="1430" y="3536"/>
                    <a:pt x="1727" y="3096"/>
                  </a:cubicBezTo>
                  <a:cubicBezTo>
                    <a:pt x="1811" y="2953"/>
                    <a:pt x="1799" y="2774"/>
                    <a:pt x="1680" y="2679"/>
                  </a:cubicBezTo>
                  <a:lnTo>
                    <a:pt x="1358" y="2346"/>
                  </a:lnTo>
                  <a:lnTo>
                    <a:pt x="1358" y="2334"/>
                  </a:lnTo>
                  <a:lnTo>
                    <a:pt x="2334" y="1346"/>
                  </a:lnTo>
                  <a:lnTo>
                    <a:pt x="2346" y="1346"/>
                  </a:lnTo>
                  <a:lnTo>
                    <a:pt x="2680" y="1679"/>
                  </a:lnTo>
                  <a:cubicBezTo>
                    <a:pt x="2748" y="1747"/>
                    <a:pt x="2832" y="1780"/>
                    <a:pt x="2916" y="1780"/>
                  </a:cubicBezTo>
                  <a:cubicBezTo>
                    <a:pt x="2978" y="1780"/>
                    <a:pt x="3041" y="1762"/>
                    <a:pt x="3096" y="1727"/>
                  </a:cubicBezTo>
                  <a:cubicBezTo>
                    <a:pt x="3537" y="1441"/>
                    <a:pt x="4037" y="1227"/>
                    <a:pt x="4549" y="1108"/>
                  </a:cubicBezTo>
                  <a:cubicBezTo>
                    <a:pt x="4704" y="1084"/>
                    <a:pt x="4823" y="953"/>
                    <a:pt x="4823" y="786"/>
                  </a:cubicBezTo>
                  <a:lnTo>
                    <a:pt x="4823" y="322"/>
                  </a:lnTo>
                  <a:cubicBezTo>
                    <a:pt x="4823" y="322"/>
                    <a:pt x="4823" y="310"/>
                    <a:pt x="4835" y="310"/>
                  </a:cubicBezTo>
                  <a:close/>
                  <a:moveTo>
                    <a:pt x="4835" y="0"/>
                  </a:moveTo>
                  <a:cubicBezTo>
                    <a:pt x="4656" y="0"/>
                    <a:pt x="4513" y="143"/>
                    <a:pt x="4513" y="322"/>
                  </a:cubicBezTo>
                  <a:lnTo>
                    <a:pt x="4513" y="786"/>
                  </a:lnTo>
                  <a:cubicBezTo>
                    <a:pt x="4513" y="786"/>
                    <a:pt x="4513" y="798"/>
                    <a:pt x="4489" y="798"/>
                  </a:cubicBezTo>
                  <a:cubicBezTo>
                    <a:pt x="3930" y="917"/>
                    <a:pt x="3406" y="1143"/>
                    <a:pt x="2930" y="1453"/>
                  </a:cubicBezTo>
                  <a:lnTo>
                    <a:pt x="2918" y="1453"/>
                  </a:lnTo>
                  <a:lnTo>
                    <a:pt x="2584" y="1131"/>
                  </a:lnTo>
                  <a:cubicBezTo>
                    <a:pt x="2519" y="1066"/>
                    <a:pt x="2436" y="1033"/>
                    <a:pt x="2351" y="1033"/>
                  </a:cubicBezTo>
                  <a:cubicBezTo>
                    <a:pt x="2266" y="1033"/>
                    <a:pt x="2180" y="1066"/>
                    <a:pt x="2108" y="1131"/>
                  </a:cubicBezTo>
                  <a:lnTo>
                    <a:pt x="1132" y="2108"/>
                  </a:lnTo>
                  <a:cubicBezTo>
                    <a:pt x="1001" y="2251"/>
                    <a:pt x="1001" y="2453"/>
                    <a:pt x="1132" y="2584"/>
                  </a:cubicBezTo>
                  <a:lnTo>
                    <a:pt x="1453" y="2917"/>
                  </a:lnTo>
                  <a:lnTo>
                    <a:pt x="1453" y="2929"/>
                  </a:lnTo>
                  <a:cubicBezTo>
                    <a:pt x="1144" y="3405"/>
                    <a:pt x="941" y="3941"/>
                    <a:pt x="799" y="4489"/>
                  </a:cubicBezTo>
                  <a:cubicBezTo>
                    <a:pt x="799" y="4489"/>
                    <a:pt x="799" y="4513"/>
                    <a:pt x="787" y="4513"/>
                  </a:cubicBezTo>
                  <a:lnTo>
                    <a:pt x="322" y="4513"/>
                  </a:lnTo>
                  <a:cubicBezTo>
                    <a:pt x="144" y="4513"/>
                    <a:pt x="1" y="4656"/>
                    <a:pt x="1" y="4834"/>
                  </a:cubicBezTo>
                  <a:lnTo>
                    <a:pt x="1" y="6215"/>
                  </a:lnTo>
                  <a:cubicBezTo>
                    <a:pt x="1" y="6394"/>
                    <a:pt x="144" y="6549"/>
                    <a:pt x="322" y="6549"/>
                  </a:cubicBezTo>
                  <a:lnTo>
                    <a:pt x="787" y="6549"/>
                  </a:lnTo>
                  <a:cubicBezTo>
                    <a:pt x="787" y="6549"/>
                    <a:pt x="799" y="6549"/>
                    <a:pt x="799" y="6561"/>
                  </a:cubicBezTo>
                  <a:cubicBezTo>
                    <a:pt x="918" y="7132"/>
                    <a:pt x="1144" y="7644"/>
                    <a:pt x="1453" y="8120"/>
                  </a:cubicBezTo>
                  <a:lnTo>
                    <a:pt x="1453" y="8144"/>
                  </a:lnTo>
                  <a:lnTo>
                    <a:pt x="1132" y="8466"/>
                  </a:lnTo>
                  <a:cubicBezTo>
                    <a:pt x="1001" y="8597"/>
                    <a:pt x="1001" y="8811"/>
                    <a:pt x="1132" y="8942"/>
                  </a:cubicBezTo>
                  <a:lnTo>
                    <a:pt x="2108" y="9930"/>
                  </a:lnTo>
                  <a:cubicBezTo>
                    <a:pt x="2180" y="9996"/>
                    <a:pt x="2266" y="10028"/>
                    <a:pt x="2351" y="10028"/>
                  </a:cubicBezTo>
                  <a:cubicBezTo>
                    <a:pt x="2436" y="10028"/>
                    <a:pt x="2519" y="9996"/>
                    <a:pt x="2584" y="9930"/>
                  </a:cubicBezTo>
                  <a:lnTo>
                    <a:pt x="2918" y="9597"/>
                  </a:lnTo>
                  <a:lnTo>
                    <a:pt x="2930" y="9597"/>
                  </a:lnTo>
                  <a:cubicBezTo>
                    <a:pt x="3406" y="9906"/>
                    <a:pt x="3942" y="10121"/>
                    <a:pt x="4489" y="10252"/>
                  </a:cubicBezTo>
                  <a:cubicBezTo>
                    <a:pt x="4489" y="10252"/>
                    <a:pt x="4513" y="10252"/>
                    <a:pt x="4513" y="10263"/>
                  </a:cubicBezTo>
                  <a:lnTo>
                    <a:pt x="4513" y="10728"/>
                  </a:lnTo>
                  <a:cubicBezTo>
                    <a:pt x="4513" y="10906"/>
                    <a:pt x="4656" y="11061"/>
                    <a:pt x="4835" y="11061"/>
                  </a:cubicBezTo>
                  <a:lnTo>
                    <a:pt x="6216" y="11061"/>
                  </a:lnTo>
                  <a:cubicBezTo>
                    <a:pt x="6394" y="11061"/>
                    <a:pt x="6549" y="10906"/>
                    <a:pt x="6549" y="10728"/>
                  </a:cubicBezTo>
                  <a:lnTo>
                    <a:pt x="6549" y="10263"/>
                  </a:lnTo>
                  <a:cubicBezTo>
                    <a:pt x="6549" y="10263"/>
                    <a:pt x="6549" y="10252"/>
                    <a:pt x="6561" y="10252"/>
                  </a:cubicBezTo>
                  <a:cubicBezTo>
                    <a:pt x="7133" y="10132"/>
                    <a:pt x="7645" y="9906"/>
                    <a:pt x="8121" y="9597"/>
                  </a:cubicBezTo>
                  <a:lnTo>
                    <a:pt x="8145" y="9597"/>
                  </a:lnTo>
                  <a:lnTo>
                    <a:pt x="8466" y="9930"/>
                  </a:lnTo>
                  <a:cubicBezTo>
                    <a:pt x="8532" y="9996"/>
                    <a:pt x="8618" y="10028"/>
                    <a:pt x="8704" y="10028"/>
                  </a:cubicBezTo>
                  <a:cubicBezTo>
                    <a:pt x="8791" y="10028"/>
                    <a:pt x="8877" y="9996"/>
                    <a:pt x="8942" y="9930"/>
                  </a:cubicBezTo>
                  <a:lnTo>
                    <a:pt x="9931" y="8942"/>
                  </a:lnTo>
                  <a:cubicBezTo>
                    <a:pt x="10062" y="8811"/>
                    <a:pt x="10062" y="8597"/>
                    <a:pt x="9931" y="8466"/>
                  </a:cubicBezTo>
                  <a:lnTo>
                    <a:pt x="9597" y="8144"/>
                  </a:lnTo>
                  <a:lnTo>
                    <a:pt x="9597" y="8120"/>
                  </a:lnTo>
                  <a:cubicBezTo>
                    <a:pt x="9919" y="7644"/>
                    <a:pt x="10121" y="7108"/>
                    <a:pt x="10252" y="6561"/>
                  </a:cubicBezTo>
                  <a:cubicBezTo>
                    <a:pt x="10252" y="6561"/>
                    <a:pt x="10252" y="6549"/>
                    <a:pt x="10264" y="6549"/>
                  </a:cubicBezTo>
                  <a:lnTo>
                    <a:pt x="10728" y="6549"/>
                  </a:lnTo>
                  <a:cubicBezTo>
                    <a:pt x="10907" y="6549"/>
                    <a:pt x="11062" y="6394"/>
                    <a:pt x="11062" y="6215"/>
                  </a:cubicBezTo>
                  <a:lnTo>
                    <a:pt x="11062" y="4834"/>
                  </a:lnTo>
                  <a:cubicBezTo>
                    <a:pt x="11062" y="4656"/>
                    <a:pt x="10907" y="4513"/>
                    <a:pt x="10728" y="4513"/>
                  </a:cubicBezTo>
                  <a:lnTo>
                    <a:pt x="10264" y="4513"/>
                  </a:lnTo>
                  <a:cubicBezTo>
                    <a:pt x="10264" y="4513"/>
                    <a:pt x="10252" y="4513"/>
                    <a:pt x="10252" y="4489"/>
                  </a:cubicBezTo>
                  <a:cubicBezTo>
                    <a:pt x="10133" y="3929"/>
                    <a:pt x="9907" y="3405"/>
                    <a:pt x="9597" y="2929"/>
                  </a:cubicBezTo>
                  <a:lnTo>
                    <a:pt x="9597" y="2917"/>
                  </a:lnTo>
                  <a:lnTo>
                    <a:pt x="9931" y="2584"/>
                  </a:lnTo>
                  <a:cubicBezTo>
                    <a:pt x="10062" y="2453"/>
                    <a:pt x="10062" y="2239"/>
                    <a:pt x="9931" y="2108"/>
                  </a:cubicBezTo>
                  <a:lnTo>
                    <a:pt x="8942" y="1131"/>
                  </a:lnTo>
                  <a:cubicBezTo>
                    <a:pt x="8877" y="1066"/>
                    <a:pt x="8791" y="1033"/>
                    <a:pt x="8704" y="1033"/>
                  </a:cubicBezTo>
                  <a:cubicBezTo>
                    <a:pt x="8618" y="1033"/>
                    <a:pt x="8532" y="1066"/>
                    <a:pt x="8466" y="1131"/>
                  </a:cubicBezTo>
                  <a:lnTo>
                    <a:pt x="8145" y="1453"/>
                  </a:lnTo>
                  <a:lnTo>
                    <a:pt x="8121" y="1453"/>
                  </a:lnTo>
                  <a:cubicBezTo>
                    <a:pt x="7645" y="1143"/>
                    <a:pt x="7109" y="941"/>
                    <a:pt x="6561" y="798"/>
                  </a:cubicBezTo>
                  <a:cubicBezTo>
                    <a:pt x="6561" y="798"/>
                    <a:pt x="6549" y="798"/>
                    <a:pt x="6549" y="786"/>
                  </a:cubicBezTo>
                  <a:lnTo>
                    <a:pt x="6549" y="322"/>
                  </a:lnTo>
                  <a:cubicBezTo>
                    <a:pt x="6549" y="143"/>
                    <a:pt x="6394" y="0"/>
                    <a:pt x="6216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spcFirstLastPara="1" wrap="square" lIns="137138" tIns="137138" rIns="137138" bIns="137138" anchor="ctr" anchorCtr="0">
              <a:noAutofit/>
            </a:bodyPr>
            <a:lstStyle/>
            <a:p>
              <a:endParaRPr sz="27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483A8D-4883-8719-02CB-1AFEA3EE7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680B1-7F17-42D2-83E2-2C9AC13983BB}" type="slidenum">
              <a:rPr lang="en-US" smtClean="0"/>
              <a:t>24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00B8664-C7F8-63F2-7A0A-911FC303B44F}"/>
              </a:ext>
            </a:extLst>
          </p:cNvPr>
          <p:cNvCxnSpPr>
            <a:cxnSpLocks/>
          </p:cNvCxnSpPr>
          <p:nvPr/>
        </p:nvCxnSpPr>
        <p:spPr>
          <a:xfrm>
            <a:off x="762203" y="5448300"/>
            <a:ext cx="782002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809FC4-CE15-8E1C-72E3-9A41098E3FEE}"/>
              </a:ext>
            </a:extLst>
          </p:cNvPr>
          <p:cNvCxnSpPr>
            <a:cxnSpLocks/>
          </p:cNvCxnSpPr>
          <p:nvPr/>
        </p:nvCxnSpPr>
        <p:spPr>
          <a:xfrm>
            <a:off x="799351" y="6667500"/>
            <a:ext cx="782002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277D463-244B-608A-7D1B-708B51D47B35}"/>
              </a:ext>
            </a:extLst>
          </p:cNvPr>
          <p:cNvCxnSpPr>
            <a:cxnSpLocks/>
          </p:cNvCxnSpPr>
          <p:nvPr/>
        </p:nvCxnSpPr>
        <p:spPr>
          <a:xfrm>
            <a:off x="9601200" y="4229100"/>
            <a:ext cx="782002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5DB813D-BD76-685F-44EB-385D57CDB9C2}"/>
              </a:ext>
            </a:extLst>
          </p:cNvPr>
          <p:cNvCxnSpPr>
            <a:cxnSpLocks/>
          </p:cNvCxnSpPr>
          <p:nvPr/>
        </p:nvCxnSpPr>
        <p:spPr>
          <a:xfrm>
            <a:off x="9601200" y="5448300"/>
            <a:ext cx="782002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71A121F-B2D1-09D3-C972-CB92A1C2A969}"/>
              </a:ext>
            </a:extLst>
          </p:cNvPr>
          <p:cNvCxnSpPr>
            <a:cxnSpLocks/>
          </p:cNvCxnSpPr>
          <p:nvPr/>
        </p:nvCxnSpPr>
        <p:spPr>
          <a:xfrm>
            <a:off x="9601200" y="6667500"/>
            <a:ext cx="782002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FFD3EDF5-F2FA-8CCB-0F96-9B86912FEC8D}"/>
              </a:ext>
            </a:extLst>
          </p:cNvPr>
          <p:cNvSpPr/>
          <p:nvPr/>
        </p:nvSpPr>
        <p:spPr>
          <a:xfrm>
            <a:off x="712356" y="8094890"/>
            <a:ext cx="16708869" cy="85861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Profitability can be significantly improved by reducing dependency on discount-driven sales and implementing more targeted pricing strategies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Google Shape;14505;p84">
            <a:extLst>
              <a:ext uri="{FF2B5EF4-FFF2-40B4-BE49-F238E27FC236}">
                <a16:creationId xmlns:a16="http://schemas.microsoft.com/office/drawing/2014/main" id="{61478EFA-9B56-D215-A89F-D0ABBA4BEA6B}"/>
              </a:ext>
            </a:extLst>
          </p:cNvPr>
          <p:cNvSpPr/>
          <p:nvPr/>
        </p:nvSpPr>
        <p:spPr>
          <a:xfrm>
            <a:off x="10396947" y="2247900"/>
            <a:ext cx="381000" cy="511224"/>
          </a:xfrm>
          <a:custGeom>
            <a:avLst/>
            <a:gdLst/>
            <a:ahLst/>
            <a:cxnLst/>
            <a:rect l="l" t="t" r="r" b="b"/>
            <a:pathLst>
              <a:path w="6002" h="8137" extrusionOk="0">
                <a:moveTo>
                  <a:pt x="3097" y="314"/>
                </a:moveTo>
                <a:cubicBezTo>
                  <a:pt x="3739" y="314"/>
                  <a:pt x="4347" y="552"/>
                  <a:pt x="4835" y="980"/>
                </a:cubicBezTo>
                <a:cubicBezTo>
                  <a:pt x="5394" y="1481"/>
                  <a:pt x="5716" y="2195"/>
                  <a:pt x="5716" y="2933"/>
                </a:cubicBezTo>
                <a:cubicBezTo>
                  <a:pt x="5704" y="3445"/>
                  <a:pt x="5549" y="3933"/>
                  <a:pt x="5287" y="4350"/>
                </a:cubicBezTo>
                <a:cubicBezTo>
                  <a:pt x="5013" y="4767"/>
                  <a:pt x="4644" y="5100"/>
                  <a:pt x="4204" y="5302"/>
                </a:cubicBezTo>
                <a:cubicBezTo>
                  <a:pt x="3930" y="5433"/>
                  <a:pt x="3751" y="5719"/>
                  <a:pt x="3751" y="6029"/>
                </a:cubicBezTo>
                <a:lnTo>
                  <a:pt x="3751" y="6207"/>
                </a:lnTo>
                <a:lnTo>
                  <a:pt x="2430" y="6207"/>
                </a:lnTo>
                <a:lnTo>
                  <a:pt x="2430" y="6029"/>
                </a:lnTo>
                <a:cubicBezTo>
                  <a:pt x="2430" y="5719"/>
                  <a:pt x="2251" y="5433"/>
                  <a:pt x="1965" y="5302"/>
                </a:cubicBezTo>
                <a:cubicBezTo>
                  <a:pt x="942" y="4814"/>
                  <a:pt x="346" y="3731"/>
                  <a:pt x="489" y="2588"/>
                </a:cubicBezTo>
                <a:cubicBezTo>
                  <a:pt x="644" y="1421"/>
                  <a:pt x="1608" y="457"/>
                  <a:pt x="2799" y="326"/>
                </a:cubicBezTo>
                <a:cubicBezTo>
                  <a:pt x="2906" y="314"/>
                  <a:pt x="3013" y="314"/>
                  <a:pt x="3097" y="314"/>
                </a:cubicBezTo>
                <a:close/>
                <a:moveTo>
                  <a:pt x="3728" y="6505"/>
                </a:moveTo>
                <a:lnTo>
                  <a:pt x="3739" y="7017"/>
                </a:lnTo>
                <a:cubicBezTo>
                  <a:pt x="3739" y="7100"/>
                  <a:pt x="3668" y="7195"/>
                  <a:pt x="3561" y="7195"/>
                </a:cubicBezTo>
                <a:lnTo>
                  <a:pt x="2573" y="7195"/>
                </a:lnTo>
                <a:cubicBezTo>
                  <a:pt x="2489" y="7195"/>
                  <a:pt x="2394" y="7124"/>
                  <a:pt x="2394" y="7017"/>
                </a:cubicBezTo>
                <a:lnTo>
                  <a:pt x="2394" y="6505"/>
                </a:lnTo>
                <a:close/>
                <a:moveTo>
                  <a:pt x="3394" y="7469"/>
                </a:moveTo>
                <a:lnTo>
                  <a:pt x="3406" y="7648"/>
                </a:lnTo>
                <a:cubicBezTo>
                  <a:pt x="3406" y="7743"/>
                  <a:pt x="3335" y="7838"/>
                  <a:pt x="3228" y="7838"/>
                </a:cubicBezTo>
                <a:lnTo>
                  <a:pt x="2906" y="7838"/>
                </a:lnTo>
                <a:cubicBezTo>
                  <a:pt x="2811" y="7838"/>
                  <a:pt x="2727" y="7755"/>
                  <a:pt x="2727" y="7648"/>
                </a:cubicBezTo>
                <a:lnTo>
                  <a:pt x="2727" y="7469"/>
                </a:lnTo>
                <a:close/>
                <a:moveTo>
                  <a:pt x="3056" y="0"/>
                </a:moveTo>
                <a:cubicBezTo>
                  <a:pt x="2951" y="0"/>
                  <a:pt x="2845" y="6"/>
                  <a:pt x="2739" y="16"/>
                </a:cubicBezTo>
                <a:cubicBezTo>
                  <a:pt x="1418" y="171"/>
                  <a:pt x="322" y="1230"/>
                  <a:pt x="168" y="2552"/>
                </a:cubicBezTo>
                <a:cubicBezTo>
                  <a:pt x="1" y="3814"/>
                  <a:pt x="668" y="5040"/>
                  <a:pt x="1811" y="5564"/>
                </a:cubicBezTo>
                <a:cubicBezTo>
                  <a:pt x="1977" y="5648"/>
                  <a:pt x="2096" y="5826"/>
                  <a:pt x="2096" y="6017"/>
                </a:cubicBezTo>
                <a:lnTo>
                  <a:pt x="2096" y="7005"/>
                </a:lnTo>
                <a:cubicBezTo>
                  <a:pt x="2096" y="7207"/>
                  <a:pt x="2239" y="7386"/>
                  <a:pt x="2430" y="7457"/>
                </a:cubicBezTo>
                <a:lnTo>
                  <a:pt x="2430" y="7648"/>
                </a:lnTo>
                <a:cubicBezTo>
                  <a:pt x="2430" y="7922"/>
                  <a:pt x="2632" y="8136"/>
                  <a:pt x="2906" y="8136"/>
                </a:cubicBezTo>
                <a:lnTo>
                  <a:pt x="3228" y="8136"/>
                </a:lnTo>
                <a:cubicBezTo>
                  <a:pt x="3501" y="8136"/>
                  <a:pt x="3704" y="7922"/>
                  <a:pt x="3704" y="7648"/>
                </a:cubicBezTo>
                <a:lnTo>
                  <a:pt x="3704" y="7457"/>
                </a:lnTo>
                <a:cubicBezTo>
                  <a:pt x="3906" y="7398"/>
                  <a:pt x="4037" y="7219"/>
                  <a:pt x="4037" y="7005"/>
                </a:cubicBezTo>
                <a:lnTo>
                  <a:pt x="4037" y="6017"/>
                </a:lnTo>
                <a:cubicBezTo>
                  <a:pt x="4037" y="5826"/>
                  <a:pt x="4144" y="5648"/>
                  <a:pt x="4323" y="5564"/>
                </a:cubicBezTo>
                <a:cubicBezTo>
                  <a:pt x="4811" y="5326"/>
                  <a:pt x="5228" y="4969"/>
                  <a:pt x="5537" y="4517"/>
                </a:cubicBezTo>
                <a:cubicBezTo>
                  <a:pt x="5847" y="4040"/>
                  <a:pt x="6002" y="3481"/>
                  <a:pt x="6002" y="2921"/>
                </a:cubicBezTo>
                <a:cubicBezTo>
                  <a:pt x="6002" y="2100"/>
                  <a:pt x="5644" y="1302"/>
                  <a:pt x="5037" y="754"/>
                </a:cubicBezTo>
                <a:cubicBezTo>
                  <a:pt x="4485" y="254"/>
                  <a:pt x="3788" y="0"/>
                  <a:pt x="3056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137138" tIns="137138" rIns="137138" bIns="137138" anchor="ctr" anchorCtr="0">
            <a:noAutofit/>
          </a:bodyPr>
          <a:lstStyle/>
          <a:p>
            <a:endParaRPr sz="2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Google Shape;14509;p84">
            <a:extLst>
              <a:ext uri="{FF2B5EF4-FFF2-40B4-BE49-F238E27FC236}">
                <a16:creationId xmlns:a16="http://schemas.microsoft.com/office/drawing/2014/main" id="{A0793087-80EE-FA45-52AC-0017BCDD6254}"/>
              </a:ext>
            </a:extLst>
          </p:cNvPr>
          <p:cNvSpPr/>
          <p:nvPr/>
        </p:nvSpPr>
        <p:spPr>
          <a:xfrm>
            <a:off x="10564071" y="2336629"/>
            <a:ext cx="58500" cy="166437"/>
          </a:xfrm>
          <a:custGeom>
            <a:avLst/>
            <a:gdLst/>
            <a:ahLst/>
            <a:cxnLst/>
            <a:rect l="l" t="t" r="r" b="b"/>
            <a:pathLst>
              <a:path w="953" h="2918" extrusionOk="0">
                <a:moveTo>
                  <a:pt x="477" y="310"/>
                </a:moveTo>
                <a:cubicBezTo>
                  <a:pt x="512" y="310"/>
                  <a:pt x="560" y="334"/>
                  <a:pt x="596" y="357"/>
                </a:cubicBezTo>
                <a:cubicBezTo>
                  <a:pt x="620" y="393"/>
                  <a:pt x="632" y="429"/>
                  <a:pt x="632" y="476"/>
                </a:cubicBezTo>
                <a:lnTo>
                  <a:pt x="548" y="2608"/>
                </a:lnTo>
                <a:lnTo>
                  <a:pt x="405" y="2620"/>
                </a:lnTo>
                <a:cubicBezTo>
                  <a:pt x="405" y="2620"/>
                  <a:pt x="393" y="2620"/>
                  <a:pt x="393" y="2608"/>
                </a:cubicBezTo>
                <a:lnTo>
                  <a:pt x="310" y="476"/>
                </a:lnTo>
                <a:cubicBezTo>
                  <a:pt x="310" y="429"/>
                  <a:pt x="322" y="393"/>
                  <a:pt x="358" y="357"/>
                </a:cubicBezTo>
                <a:cubicBezTo>
                  <a:pt x="381" y="334"/>
                  <a:pt x="429" y="310"/>
                  <a:pt x="477" y="310"/>
                </a:cubicBezTo>
                <a:close/>
                <a:moveTo>
                  <a:pt x="477" y="0"/>
                </a:moveTo>
                <a:cubicBezTo>
                  <a:pt x="334" y="0"/>
                  <a:pt x="215" y="48"/>
                  <a:pt x="131" y="155"/>
                </a:cubicBezTo>
                <a:cubicBezTo>
                  <a:pt x="36" y="238"/>
                  <a:pt x="0" y="357"/>
                  <a:pt x="0" y="488"/>
                </a:cubicBezTo>
                <a:lnTo>
                  <a:pt x="84" y="2620"/>
                </a:lnTo>
                <a:cubicBezTo>
                  <a:pt x="84" y="2786"/>
                  <a:pt x="239" y="2917"/>
                  <a:pt x="393" y="2917"/>
                </a:cubicBezTo>
                <a:lnTo>
                  <a:pt x="512" y="2917"/>
                </a:lnTo>
                <a:cubicBezTo>
                  <a:pt x="679" y="2917"/>
                  <a:pt x="822" y="2786"/>
                  <a:pt x="822" y="2620"/>
                </a:cubicBezTo>
                <a:lnTo>
                  <a:pt x="917" y="488"/>
                </a:lnTo>
                <a:cubicBezTo>
                  <a:pt x="953" y="369"/>
                  <a:pt x="905" y="238"/>
                  <a:pt x="810" y="155"/>
                </a:cubicBezTo>
                <a:cubicBezTo>
                  <a:pt x="727" y="60"/>
                  <a:pt x="608" y="0"/>
                  <a:pt x="477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137138" tIns="137138" rIns="137138" bIns="137138" anchor="ctr" anchorCtr="0">
            <a:noAutofit/>
          </a:bodyPr>
          <a:lstStyle/>
          <a:p>
            <a:endParaRPr sz="2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Google Shape;14510;p84">
            <a:extLst>
              <a:ext uri="{FF2B5EF4-FFF2-40B4-BE49-F238E27FC236}">
                <a16:creationId xmlns:a16="http://schemas.microsoft.com/office/drawing/2014/main" id="{05D9072F-79F2-79B2-8336-74ADF3185264}"/>
              </a:ext>
            </a:extLst>
          </p:cNvPr>
          <p:cNvSpPr/>
          <p:nvPr/>
        </p:nvSpPr>
        <p:spPr>
          <a:xfrm>
            <a:off x="10570461" y="2538651"/>
            <a:ext cx="45719" cy="47311"/>
          </a:xfrm>
          <a:custGeom>
            <a:avLst/>
            <a:gdLst/>
            <a:ahLst/>
            <a:cxnLst/>
            <a:rect l="l" t="t" r="r" b="b"/>
            <a:pathLst>
              <a:path w="811" h="811" extrusionOk="0">
                <a:moveTo>
                  <a:pt x="406" y="310"/>
                </a:moveTo>
                <a:cubicBezTo>
                  <a:pt x="453" y="310"/>
                  <a:pt x="489" y="358"/>
                  <a:pt x="489" y="405"/>
                </a:cubicBezTo>
                <a:cubicBezTo>
                  <a:pt x="489" y="453"/>
                  <a:pt x="453" y="489"/>
                  <a:pt x="406" y="489"/>
                </a:cubicBezTo>
                <a:cubicBezTo>
                  <a:pt x="358" y="489"/>
                  <a:pt x="310" y="453"/>
                  <a:pt x="310" y="405"/>
                </a:cubicBezTo>
                <a:cubicBezTo>
                  <a:pt x="310" y="358"/>
                  <a:pt x="358" y="310"/>
                  <a:pt x="406" y="310"/>
                </a:cubicBezTo>
                <a:close/>
                <a:moveTo>
                  <a:pt x="406" y="0"/>
                </a:moveTo>
                <a:cubicBezTo>
                  <a:pt x="179" y="0"/>
                  <a:pt x="1" y="179"/>
                  <a:pt x="1" y="405"/>
                </a:cubicBezTo>
                <a:cubicBezTo>
                  <a:pt x="1" y="631"/>
                  <a:pt x="179" y="810"/>
                  <a:pt x="406" y="810"/>
                </a:cubicBezTo>
                <a:cubicBezTo>
                  <a:pt x="632" y="810"/>
                  <a:pt x="810" y="631"/>
                  <a:pt x="810" y="405"/>
                </a:cubicBezTo>
                <a:cubicBezTo>
                  <a:pt x="787" y="179"/>
                  <a:pt x="608" y="0"/>
                  <a:pt x="406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137138" tIns="137138" rIns="137138" bIns="137138" anchor="ctr" anchorCtr="0">
            <a:noAutofit/>
          </a:bodyPr>
          <a:lstStyle/>
          <a:p>
            <a:endParaRPr sz="2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76334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Custom Design">
  <a:themeElements>
    <a:clrScheme name="AnalystAcademy">
      <a:dk1>
        <a:sysClr val="windowText" lastClr="000000"/>
      </a:dk1>
      <a:lt1>
        <a:sysClr val="window" lastClr="FFFFFF"/>
      </a:lt1>
      <a:dk2>
        <a:srgbClr val="121418"/>
      </a:dk2>
      <a:lt2>
        <a:srgbClr val="FFFFFF"/>
      </a:lt2>
      <a:accent1>
        <a:srgbClr val="04162B"/>
      </a:accent1>
      <a:accent2>
        <a:srgbClr val="359CD5"/>
      </a:accent2>
      <a:accent3>
        <a:srgbClr val="DCDCDC"/>
      </a:accent3>
      <a:accent4>
        <a:srgbClr val="5C946E"/>
      </a:accent4>
      <a:accent5>
        <a:srgbClr val="F4B400"/>
      </a:accent5>
      <a:accent6>
        <a:srgbClr val="E67E22"/>
      </a:accent6>
      <a:hlink>
        <a:srgbClr val="002060"/>
      </a:hlink>
      <a:folHlink>
        <a:srgbClr val="0070C0"/>
      </a:folHlink>
    </a:clrScheme>
    <a:fontScheme name="Analyst Academy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3394</TotalTime>
  <Words>534</Words>
  <Application>Microsoft Office PowerPoint</Application>
  <PresentationFormat>Custom</PresentationFormat>
  <Paragraphs>114</Paragraphs>
  <Slides>24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Symbol</vt:lpstr>
      <vt:lpstr>Arial</vt:lpstr>
      <vt:lpstr>Custom Design</vt:lpstr>
      <vt:lpstr>think-cell Slide</vt:lpstr>
      <vt:lpstr>PowerPoint Presentation</vt:lpstr>
      <vt:lpstr>Table of Contents</vt:lpstr>
      <vt:lpstr>Table of Contents</vt:lpstr>
      <vt:lpstr>Table of Contents</vt:lpstr>
      <vt:lpstr>PowerPoint Presentation</vt:lpstr>
      <vt:lpstr>Problem Statement</vt:lpstr>
      <vt:lpstr>PowerPoint Presentation</vt:lpstr>
      <vt:lpstr>Regional Performance</vt:lpstr>
      <vt:lpstr>PowerPoint Presentation</vt:lpstr>
      <vt:lpstr>High-Revenue States in Underperforming Regions</vt:lpstr>
      <vt:lpstr>PowerPoint Presentation</vt:lpstr>
      <vt:lpstr>Customer Segment Analysis</vt:lpstr>
      <vt:lpstr>PowerPoint Presentation</vt:lpstr>
      <vt:lpstr>Category-Level Profitability</vt:lpstr>
      <vt:lpstr>PowerPoint Presentation</vt:lpstr>
      <vt:lpstr>Sub-Category Profitability Breakdown</vt:lpstr>
      <vt:lpstr>PowerPoint Presentation</vt:lpstr>
      <vt:lpstr>Discount Impact on Profitability</vt:lpstr>
      <vt:lpstr>PowerPoint Presentation</vt:lpstr>
      <vt:lpstr>Discount Usage by Sub-Category</vt:lpstr>
      <vt:lpstr>PowerPoint Presentation</vt:lpstr>
      <vt:lpstr>Discount Dependency in Loss-Making States</vt:lpstr>
      <vt:lpstr>PowerPoint Presentation</vt:lpstr>
      <vt:lpstr>Conclusions &amp; Business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Blue Simple Business Pitch Deck Presentation</dc:title>
  <dc:creator>Daniel J</dc:creator>
  <cp:lastModifiedBy>Pablo Garcia Maya</cp:lastModifiedBy>
  <cp:revision>197</cp:revision>
  <dcterms:created xsi:type="dcterms:W3CDTF">2006-08-16T00:00:00Z</dcterms:created>
  <dcterms:modified xsi:type="dcterms:W3CDTF">2026-05-14T15:53:14Z</dcterms:modified>
  <dc:identifier>DAGkDf5R9EM</dc:identifier>
</cp:coreProperties>
</file>